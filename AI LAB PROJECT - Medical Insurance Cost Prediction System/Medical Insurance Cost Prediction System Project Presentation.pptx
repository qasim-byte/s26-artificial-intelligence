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6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E2C147-DE16-4DCF-8722-886E11E1FD9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57349F19-E771-4FDA-8C8E-DAD8D092F8BD}">
      <dgm:prSet phldrT="[Text]"/>
      <dgm:spPr>
        <a:solidFill>
          <a:schemeClr val="tx1">
            <a:lumMod val="10000"/>
            <a:lumOff val="9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Label encoding used for categorical features (smoker, insurance type)</a:t>
          </a:r>
          <a:endParaRPr lang="en-PK" dirty="0">
            <a:solidFill>
              <a:schemeClr val="tx1"/>
            </a:solidFill>
          </a:endParaRPr>
        </a:p>
      </dgm:t>
    </dgm:pt>
    <dgm:pt modelId="{B3B70722-EEBB-44DB-9DAE-44BCAC7CA2E2}" type="parTrans" cxnId="{44C4BE22-EF6E-4DA0-806C-29463F73616B}">
      <dgm:prSet/>
      <dgm:spPr/>
      <dgm:t>
        <a:bodyPr/>
        <a:lstStyle/>
        <a:p>
          <a:endParaRPr lang="en-PK"/>
        </a:p>
      </dgm:t>
    </dgm:pt>
    <dgm:pt modelId="{B0A1047D-B9BD-433E-BD6C-3D5F3FFB9D2C}" type="sibTrans" cxnId="{44C4BE22-EF6E-4DA0-806C-29463F73616B}">
      <dgm:prSet/>
      <dgm:spPr/>
      <dgm:t>
        <a:bodyPr/>
        <a:lstStyle/>
        <a:p>
          <a:endParaRPr lang="en-PK"/>
        </a:p>
      </dgm:t>
    </dgm:pt>
    <dgm:pt modelId="{8F82026E-6055-4EDF-BACE-7256C9F9EF96}">
      <dgm:prSet phldrT="[Text]"/>
      <dgm:spPr>
        <a:solidFill>
          <a:schemeClr val="tx1">
            <a:lumMod val="10000"/>
            <a:lumOff val="90000"/>
          </a:schemeClr>
        </a:solidFill>
      </dgm:spPr>
      <dgm:t>
        <a:bodyPr/>
        <a:lstStyle/>
        <a:p>
          <a:r>
            <a:rPr lang="en-US" b="0" u="none" strike="noStrike" dirty="0">
              <a:solidFill>
                <a:schemeClr val="dk1"/>
              </a:solidFill>
              <a:effectLst/>
              <a:uFillTx/>
              <a:latin typeface="arial"/>
            </a:rPr>
            <a:t>Feature selection via correlation analysis and importance from preliminary models. </a:t>
          </a:r>
          <a:endParaRPr lang="en-PK" dirty="0"/>
        </a:p>
      </dgm:t>
    </dgm:pt>
    <dgm:pt modelId="{5CA96D31-B13A-4165-9AD8-5DFB368DDFCC}" type="parTrans" cxnId="{691841EB-28C0-4ACB-BD53-B8DC7E5F272B}">
      <dgm:prSet/>
      <dgm:spPr/>
      <dgm:t>
        <a:bodyPr/>
        <a:lstStyle/>
        <a:p>
          <a:endParaRPr lang="en-PK"/>
        </a:p>
      </dgm:t>
    </dgm:pt>
    <dgm:pt modelId="{FD5EF221-A933-4E01-8C8B-601367ED362B}" type="sibTrans" cxnId="{691841EB-28C0-4ACB-BD53-B8DC7E5F272B}">
      <dgm:prSet/>
      <dgm:spPr/>
      <dgm:t>
        <a:bodyPr/>
        <a:lstStyle/>
        <a:p>
          <a:endParaRPr lang="en-PK"/>
        </a:p>
      </dgm:t>
    </dgm:pt>
    <dgm:pt modelId="{F1632B8C-6A41-48C2-A002-44D9768DC87B}">
      <dgm:prSet phldrT="[Text]"/>
      <dgm:spPr>
        <a:solidFill>
          <a:schemeClr val="tx1">
            <a:lumMod val="10000"/>
            <a:lumOff val="9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No scaling required due to tree-based model</a:t>
          </a:r>
          <a:endParaRPr lang="en-PK" dirty="0">
            <a:solidFill>
              <a:schemeClr val="tx1"/>
            </a:solidFill>
          </a:endParaRPr>
        </a:p>
      </dgm:t>
    </dgm:pt>
    <dgm:pt modelId="{FFCA729C-EA54-48B2-AE52-B1F0B382AF77}" type="parTrans" cxnId="{F83B5991-315F-4A9A-B46F-8320DAA87BA0}">
      <dgm:prSet/>
      <dgm:spPr/>
      <dgm:t>
        <a:bodyPr/>
        <a:lstStyle/>
        <a:p>
          <a:endParaRPr lang="en-PK"/>
        </a:p>
      </dgm:t>
    </dgm:pt>
    <dgm:pt modelId="{08AF10D5-98BC-4272-BA2D-C3910467E9BC}" type="sibTrans" cxnId="{F83B5991-315F-4A9A-B46F-8320DAA87BA0}">
      <dgm:prSet/>
      <dgm:spPr/>
      <dgm:t>
        <a:bodyPr/>
        <a:lstStyle/>
        <a:p>
          <a:endParaRPr lang="en-PK"/>
        </a:p>
      </dgm:t>
    </dgm:pt>
    <dgm:pt modelId="{53F9078D-B752-4E80-A3B5-8587F41005B5}" type="pres">
      <dgm:prSet presAssocID="{9DE2C147-DE16-4DCF-8722-886E11E1FD91}" presName="linear" presStyleCnt="0">
        <dgm:presLayoutVars>
          <dgm:dir/>
          <dgm:animLvl val="lvl"/>
          <dgm:resizeHandles val="exact"/>
        </dgm:presLayoutVars>
      </dgm:prSet>
      <dgm:spPr/>
    </dgm:pt>
    <dgm:pt modelId="{43684AD1-4844-4BD2-BBD7-A9A52C8FD562}" type="pres">
      <dgm:prSet presAssocID="{57349F19-E771-4FDA-8C8E-DAD8D092F8BD}" presName="parentLin" presStyleCnt="0"/>
      <dgm:spPr/>
    </dgm:pt>
    <dgm:pt modelId="{87C8B641-FD67-47A1-AD0F-0FAC106241A0}" type="pres">
      <dgm:prSet presAssocID="{57349F19-E771-4FDA-8C8E-DAD8D092F8BD}" presName="parentLeftMargin" presStyleLbl="node1" presStyleIdx="0" presStyleCnt="3"/>
      <dgm:spPr/>
    </dgm:pt>
    <dgm:pt modelId="{D1F89B11-B99C-46A6-9561-C8D975E85A66}" type="pres">
      <dgm:prSet presAssocID="{57349F19-E771-4FDA-8C8E-DAD8D092F8B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C4880E-A286-4A72-9732-90A475CFF411}" type="pres">
      <dgm:prSet presAssocID="{57349F19-E771-4FDA-8C8E-DAD8D092F8BD}" presName="negativeSpace" presStyleCnt="0"/>
      <dgm:spPr/>
    </dgm:pt>
    <dgm:pt modelId="{D1EF49F4-0939-4918-A5DE-28BEA06A4D11}" type="pres">
      <dgm:prSet presAssocID="{57349F19-E771-4FDA-8C8E-DAD8D092F8BD}" presName="childText" presStyleLbl="conFgAcc1" presStyleIdx="0" presStyleCnt="3">
        <dgm:presLayoutVars>
          <dgm:bulletEnabled val="1"/>
        </dgm:presLayoutVars>
      </dgm:prSet>
      <dgm:spPr>
        <a:ln>
          <a:solidFill>
            <a:srgbClr val="FF0000"/>
          </a:solidFill>
        </a:ln>
      </dgm:spPr>
    </dgm:pt>
    <dgm:pt modelId="{A1C8A239-42B4-409D-93D9-079A257E826E}" type="pres">
      <dgm:prSet presAssocID="{B0A1047D-B9BD-433E-BD6C-3D5F3FFB9D2C}" presName="spaceBetweenRectangles" presStyleCnt="0"/>
      <dgm:spPr/>
    </dgm:pt>
    <dgm:pt modelId="{60F3BEAE-C2F4-4878-B299-AD903295F041}" type="pres">
      <dgm:prSet presAssocID="{8F82026E-6055-4EDF-BACE-7256C9F9EF96}" presName="parentLin" presStyleCnt="0"/>
      <dgm:spPr/>
    </dgm:pt>
    <dgm:pt modelId="{BB02BD27-2D83-4060-8E4D-A32079D731CC}" type="pres">
      <dgm:prSet presAssocID="{8F82026E-6055-4EDF-BACE-7256C9F9EF96}" presName="parentLeftMargin" presStyleLbl="node1" presStyleIdx="0" presStyleCnt="3"/>
      <dgm:spPr/>
    </dgm:pt>
    <dgm:pt modelId="{9549E362-7060-4D7B-B04B-FDE45B4AF959}" type="pres">
      <dgm:prSet presAssocID="{8F82026E-6055-4EDF-BACE-7256C9F9EF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0B8DAA3-FDD3-490B-8184-15945809FA31}" type="pres">
      <dgm:prSet presAssocID="{8F82026E-6055-4EDF-BACE-7256C9F9EF96}" presName="negativeSpace" presStyleCnt="0"/>
      <dgm:spPr/>
    </dgm:pt>
    <dgm:pt modelId="{43E3DFDD-5A47-4DBC-A6A3-EE2C2CD4AC06}" type="pres">
      <dgm:prSet presAssocID="{8F82026E-6055-4EDF-BACE-7256C9F9EF96}" presName="childText" presStyleLbl="conFgAcc1" presStyleIdx="1" presStyleCnt="3">
        <dgm:presLayoutVars>
          <dgm:bulletEnabled val="1"/>
        </dgm:presLayoutVars>
      </dgm:prSet>
      <dgm:spPr>
        <a:ln>
          <a:solidFill>
            <a:srgbClr val="FF0000"/>
          </a:solidFill>
        </a:ln>
      </dgm:spPr>
    </dgm:pt>
    <dgm:pt modelId="{9E11C091-ABB3-41BD-8EDF-DA84E1B5D975}" type="pres">
      <dgm:prSet presAssocID="{FD5EF221-A933-4E01-8C8B-601367ED362B}" presName="spaceBetweenRectangles" presStyleCnt="0"/>
      <dgm:spPr/>
    </dgm:pt>
    <dgm:pt modelId="{C25EB42D-92FF-4C4F-9A68-7889F1C0F562}" type="pres">
      <dgm:prSet presAssocID="{F1632B8C-6A41-48C2-A002-44D9768DC87B}" presName="parentLin" presStyleCnt="0"/>
      <dgm:spPr/>
    </dgm:pt>
    <dgm:pt modelId="{18D0F8ED-AE5C-4D2B-8D74-0B2C959A05B3}" type="pres">
      <dgm:prSet presAssocID="{F1632B8C-6A41-48C2-A002-44D9768DC87B}" presName="parentLeftMargin" presStyleLbl="node1" presStyleIdx="1" presStyleCnt="3"/>
      <dgm:spPr/>
    </dgm:pt>
    <dgm:pt modelId="{1F2DDA36-4009-4DA4-8C06-5CA40A3051B7}" type="pres">
      <dgm:prSet presAssocID="{F1632B8C-6A41-48C2-A002-44D9768DC87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D1AFA9F-5CD1-45B1-AC34-6DA4B3AD06C3}" type="pres">
      <dgm:prSet presAssocID="{F1632B8C-6A41-48C2-A002-44D9768DC87B}" presName="negativeSpace" presStyleCnt="0"/>
      <dgm:spPr/>
    </dgm:pt>
    <dgm:pt modelId="{E49D0C5C-F6CA-4C82-8C58-5D1B79A4AC0E}" type="pres">
      <dgm:prSet presAssocID="{F1632B8C-6A41-48C2-A002-44D9768DC87B}" presName="childText" presStyleLbl="conFgAcc1" presStyleIdx="2" presStyleCnt="3">
        <dgm:presLayoutVars>
          <dgm:bulletEnabled val="1"/>
        </dgm:presLayoutVars>
      </dgm:prSet>
      <dgm:spPr>
        <a:ln>
          <a:solidFill>
            <a:srgbClr val="FF0000"/>
          </a:solidFill>
        </a:ln>
      </dgm:spPr>
    </dgm:pt>
  </dgm:ptLst>
  <dgm:cxnLst>
    <dgm:cxn modelId="{1144020D-0D72-4B3A-B8BC-045B69881BBF}" type="presOf" srcId="{F1632B8C-6A41-48C2-A002-44D9768DC87B}" destId="{18D0F8ED-AE5C-4D2B-8D74-0B2C959A05B3}" srcOrd="0" destOrd="0" presId="urn:microsoft.com/office/officeart/2005/8/layout/list1"/>
    <dgm:cxn modelId="{44C4BE22-EF6E-4DA0-806C-29463F73616B}" srcId="{9DE2C147-DE16-4DCF-8722-886E11E1FD91}" destId="{57349F19-E771-4FDA-8C8E-DAD8D092F8BD}" srcOrd="0" destOrd="0" parTransId="{B3B70722-EEBB-44DB-9DAE-44BCAC7CA2E2}" sibTransId="{B0A1047D-B9BD-433E-BD6C-3D5F3FFB9D2C}"/>
    <dgm:cxn modelId="{4FFE1440-3E27-45BF-AFE0-795379BD93AB}" type="presOf" srcId="{8F82026E-6055-4EDF-BACE-7256C9F9EF96}" destId="{9549E362-7060-4D7B-B04B-FDE45B4AF959}" srcOrd="1" destOrd="0" presId="urn:microsoft.com/office/officeart/2005/8/layout/list1"/>
    <dgm:cxn modelId="{4A67906F-1869-48E0-A124-7382515BCAA3}" type="presOf" srcId="{8F82026E-6055-4EDF-BACE-7256C9F9EF96}" destId="{BB02BD27-2D83-4060-8E4D-A32079D731CC}" srcOrd="0" destOrd="0" presId="urn:microsoft.com/office/officeart/2005/8/layout/list1"/>
    <dgm:cxn modelId="{145CD075-88A0-4EF5-821E-7F22BF655BC8}" type="presOf" srcId="{9DE2C147-DE16-4DCF-8722-886E11E1FD91}" destId="{53F9078D-B752-4E80-A3B5-8587F41005B5}" srcOrd="0" destOrd="0" presId="urn:microsoft.com/office/officeart/2005/8/layout/list1"/>
    <dgm:cxn modelId="{1CEDD957-E00C-409F-9934-BEB0A753D92F}" type="presOf" srcId="{57349F19-E771-4FDA-8C8E-DAD8D092F8BD}" destId="{D1F89B11-B99C-46A6-9561-C8D975E85A66}" srcOrd="1" destOrd="0" presId="urn:microsoft.com/office/officeart/2005/8/layout/list1"/>
    <dgm:cxn modelId="{BD5FE38E-2DF6-496F-8049-0A08721F59AE}" type="presOf" srcId="{F1632B8C-6A41-48C2-A002-44D9768DC87B}" destId="{1F2DDA36-4009-4DA4-8C06-5CA40A3051B7}" srcOrd="1" destOrd="0" presId="urn:microsoft.com/office/officeart/2005/8/layout/list1"/>
    <dgm:cxn modelId="{F83B5991-315F-4A9A-B46F-8320DAA87BA0}" srcId="{9DE2C147-DE16-4DCF-8722-886E11E1FD91}" destId="{F1632B8C-6A41-48C2-A002-44D9768DC87B}" srcOrd="2" destOrd="0" parTransId="{FFCA729C-EA54-48B2-AE52-B1F0B382AF77}" sibTransId="{08AF10D5-98BC-4272-BA2D-C3910467E9BC}"/>
    <dgm:cxn modelId="{691841EB-28C0-4ACB-BD53-B8DC7E5F272B}" srcId="{9DE2C147-DE16-4DCF-8722-886E11E1FD91}" destId="{8F82026E-6055-4EDF-BACE-7256C9F9EF96}" srcOrd="1" destOrd="0" parTransId="{5CA96D31-B13A-4165-9AD8-5DFB368DDFCC}" sibTransId="{FD5EF221-A933-4E01-8C8B-601367ED362B}"/>
    <dgm:cxn modelId="{A9E8FEF1-A188-4A58-A114-725F3AE55DC3}" type="presOf" srcId="{57349F19-E771-4FDA-8C8E-DAD8D092F8BD}" destId="{87C8B641-FD67-47A1-AD0F-0FAC106241A0}" srcOrd="0" destOrd="0" presId="urn:microsoft.com/office/officeart/2005/8/layout/list1"/>
    <dgm:cxn modelId="{10E168D8-0045-4948-ADA8-B9B57F40B40D}" type="presParOf" srcId="{53F9078D-B752-4E80-A3B5-8587F41005B5}" destId="{43684AD1-4844-4BD2-BBD7-A9A52C8FD562}" srcOrd="0" destOrd="0" presId="urn:microsoft.com/office/officeart/2005/8/layout/list1"/>
    <dgm:cxn modelId="{8190BE3A-A195-4B6F-835B-2DCCCA613804}" type="presParOf" srcId="{43684AD1-4844-4BD2-BBD7-A9A52C8FD562}" destId="{87C8B641-FD67-47A1-AD0F-0FAC106241A0}" srcOrd="0" destOrd="0" presId="urn:microsoft.com/office/officeart/2005/8/layout/list1"/>
    <dgm:cxn modelId="{E7693588-C786-465D-82B2-E410112F9E51}" type="presParOf" srcId="{43684AD1-4844-4BD2-BBD7-A9A52C8FD562}" destId="{D1F89B11-B99C-46A6-9561-C8D975E85A66}" srcOrd="1" destOrd="0" presId="urn:microsoft.com/office/officeart/2005/8/layout/list1"/>
    <dgm:cxn modelId="{4662AF13-47A8-4DDC-A1E4-CA98B56EE9B9}" type="presParOf" srcId="{53F9078D-B752-4E80-A3B5-8587F41005B5}" destId="{2BC4880E-A286-4A72-9732-90A475CFF411}" srcOrd="1" destOrd="0" presId="urn:microsoft.com/office/officeart/2005/8/layout/list1"/>
    <dgm:cxn modelId="{0492B1C9-2811-47E8-A81E-1E1448EEA662}" type="presParOf" srcId="{53F9078D-B752-4E80-A3B5-8587F41005B5}" destId="{D1EF49F4-0939-4918-A5DE-28BEA06A4D11}" srcOrd="2" destOrd="0" presId="urn:microsoft.com/office/officeart/2005/8/layout/list1"/>
    <dgm:cxn modelId="{50AA118E-AD60-499A-9256-C8AFCE1AE391}" type="presParOf" srcId="{53F9078D-B752-4E80-A3B5-8587F41005B5}" destId="{A1C8A239-42B4-409D-93D9-079A257E826E}" srcOrd="3" destOrd="0" presId="urn:microsoft.com/office/officeart/2005/8/layout/list1"/>
    <dgm:cxn modelId="{498B633F-E1CB-474B-97C3-BD8239E72E8C}" type="presParOf" srcId="{53F9078D-B752-4E80-A3B5-8587F41005B5}" destId="{60F3BEAE-C2F4-4878-B299-AD903295F041}" srcOrd="4" destOrd="0" presId="urn:microsoft.com/office/officeart/2005/8/layout/list1"/>
    <dgm:cxn modelId="{0B322B6F-6E46-4D19-BC75-036CD5E146BF}" type="presParOf" srcId="{60F3BEAE-C2F4-4878-B299-AD903295F041}" destId="{BB02BD27-2D83-4060-8E4D-A32079D731CC}" srcOrd="0" destOrd="0" presId="urn:microsoft.com/office/officeart/2005/8/layout/list1"/>
    <dgm:cxn modelId="{2D7FA560-11CC-4F9A-876F-D95003F39260}" type="presParOf" srcId="{60F3BEAE-C2F4-4878-B299-AD903295F041}" destId="{9549E362-7060-4D7B-B04B-FDE45B4AF959}" srcOrd="1" destOrd="0" presId="urn:microsoft.com/office/officeart/2005/8/layout/list1"/>
    <dgm:cxn modelId="{698A10B5-857B-436A-97EF-699CF79E43C0}" type="presParOf" srcId="{53F9078D-B752-4E80-A3B5-8587F41005B5}" destId="{30B8DAA3-FDD3-490B-8184-15945809FA31}" srcOrd="5" destOrd="0" presId="urn:microsoft.com/office/officeart/2005/8/layout/list1"/>
    <dgm:cxn modelId="{1C62F14A-9B2B-4CC5-9521-445E73C313E4}" type="presParOf" srcId="{53F9078D-B752-4E80-A3B5-8587F41005B5}" destId="{43E3DFDD-5A47-4DBC-A6A3-EE2C2CD4AC06}" srcOrd="6" destOrd="0" presId="urn:microsoft.com/office/officeart/2005/8/layout/list1"/>
    <dgm:cxn modelId="{BEEC9476-A387-42F4-8FA7-BE4D9EAE51B8}" type="presParOf" srcId="{53F9078D-B752-4E80-A3B5-8587F41005B5}" destId="{9E11C091-ABB3-41BD-8EDF-DA84E1B5D975}" srcOrd="7" destOrd="0" presId="urn:microsoft.com/office/officeart/2005/8/layout/list1"/>
    <dgm:cxn modelId="{2036D17B-C5D5-44B3-83B3-E9B1D5867808}" type="presParOf" srcId="{53F9078D-B752-4E80-A3B5-8587F41005B5}" destId="{C25EB42D-92FF-4C4F-9A68-7889F1C0F562}" srcOrd="8" destOrd="0" presId="urn:microsoft.com/office/officeart/2005/8/layout/list1"/>
    <dgm:cxn modelId="{D7D45B3B-6842-4C38-B4E1-1E8F1CC246FF}" type="presParOf" srcId="{C25EB42D-92FF-4C4F-9A68-7889F1C0F562}" destId="{18D0F8ED-AE5C-4D2B-8D74-0B2C959A05B3}" srcOrd="0" destOrd="0" presId="urn:microsoft.com/office/officeart/2005/8/layout/list1"/>
    <dgm:cxn modelId="{E16B896C-E97F-424D-BE36-7CD0B05A0E9D}" type="presParOf" srcId="{C25EB42D-92FF-4C4F-9A68-7889F1C0F562}" destId="{1F2DDA36-4009-4DA4-8C06-5CA40A3051B7}" srcOrd="1" destOrd="0" presId="urn:microsoft.com/office/officeart/2005/8/layout/list1"/>
    <dgm:cxn modelId="{AFDF80A0-CC45-48F1-AAEF-1FF1EA210414}" type="presParOf" srcId="{53F9078D-B752-4E80-A3B5-8587F41005B5}" destId="{3D1AFA9F-5CD1-45B1-AC34-6DA4B3AD06C3}" srcOrd="9" destOrd="0" presId="urn:microsoft.com/office/officeart/2005/8/layout/list1"/>
    <dgm:cxn modelId="{8C625E38-CD48-4E66-BE6D-F6692D8829BF}" type="presParOf" srcId="{53F9078D-B752-4E80-A3B5-8587F41005B5}" destId="{E49D0C5C-F6CA-4C82-8C58-5D1B79A4AC0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938AD0-FD3A-4F06-9796-4D7B96D25316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127DA115-C140-4457-92F5-16E912A20028}">
      <dgm:prSet phldrT="[Text]" custT="1"/>
      <dgm:spPr>
        <a:solidFill>
          <a:schemeClr val="bg2">
            <a:lumMod val="95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50" dirty="0">
              <a:solidFill>
                <a:schemeClr val="tx1"/>
              </a:solidFill>
            </a:rPr>
            <a:t>Model loaded using pickle file in Streamlit backend</a:t>
          </a:r>
          <a:endParaRPr lang="en-PK" sz="1150" dirty="0">
            <a:solidFill>
              <a:schemeClr val="tx1"/>
            </a:solidFill>
          </a:endParaRPr>
        </a:p>
      </dgm:t>
    </dgm:pt>
    <dgm:pt modelId="{3D1013EC-D3F2-42D2-912A-311512D00E24}" type="parTrans" cxnId="{99CDFA35-EF29-446E-9754-48A23FAB4CB6}">
      <dgm:prSet/>
      <dgm:spPr/>
      <dgm:t>
        <a:bodyPr/>
        <a:lstStyle/>
        <a:p>
          <a:endParaRPr lang="en-PK"/>
        </a:p>
      </dgm:t>
    </dgm:pt>
    <dgm:pt modelId="{58EDCCC6-60C2-4386-8880-1B45B9D8C262}" type="sibTrans" cxnId="{99CDFA35-EF29-446E-9754-48A23FAB4CB6}">
      <dgm:prSet/>
      <dgm:spPr/>
      <dgm:t>
        <a:bodyPr/>
        <a:lstStyle/>
        <a:p>
          <a:endParaRPr lang="en-PK"/>
        </a:p>
      </dgm:t>
    </dgm:pt>
    <dgm:pt modelId="{BBF4707C-FE79-4C23-9161-BC96DF831440}">
      <dgm:prSet phldrT="[Text]" phldr="0"/>
      <dgm:spPr/>
      <dgm:t>
        <a:bodyPr/>
        <a:lstStyle/>
        <a:p>
          <a:endParaRPr lang="en-PK" dirty="0"/>
        </a:p>
      </dgm:t>
    </dgm:pt>
    <dgm:pt modelId="{AB579841-D9CC-4587-815B-47C1D1C5C381}" type="parTrans" cxnId="{197C7E25-EC16-4E35-B22A-3051C0D98C73}">
      <dgm:prSet/>
      <dgm:spPr/>
      <dgm:t>
        <a:bodyPr/>
        <a:lstStyle/>
        <a:p>
          <a:endParaRPr lang="en-PK"/>
        </a:p>
      </dgm:t>
    </dgm:pt>
    <dgm:pt modelId="{95141A17-0F4B-43CE-9A86-0AC81C21B746}" type="sibTrans" cxnId="{197C7E25-EC16-4E35-B22A-3051C0D98C73}">
      <dgm:prSet/>
      <dgm:spPr/>
      <dgm:t>
        <a:bodyPr/>
        <a:lstStyle/>
        <a:p>
          <a:endParaRPr lang="en-PK"/>
        </a:p>
      </dgm:t>
    </dgm:pt>
    <dgm:pt modelId="{71F3319C-46EE-44E3-BD58-5DC75741949C}">
      <dgm:prSet phldrT="[Text]" custT="1"/>
      <dgm:spPr>
        <a:solidFill>
          <a:schemeClr val="bg2">
            <a:lumMod val="95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50" dirty="0">
              <a:solidFill>
                <a:schemeClr val="tx1"/>
              </a:solidFill>
            </a:rPr>
            <a:t>Real-time prediction using user input form</a:t>
          </a:r>
          <a:endParaRPr lang="en-PK" sz="1150" dirty="0">
            <a:solidFill>
              <a:schemeClr val="tx1"/>
            </a:solidFill>
          </a:endParaRPr>
        </a:p>
      </dgm:t>
    </dgm:pt>
    <dgm:pt modelId="{F3C1ECE6-A47A-4148-8B6F-B097D23CF8EE}" type="parTrans" cxnId="{E75ABF94-F446-4910-89C1-A95B0875A883}">
      <dgm:prSet/>
      <dgm:spPr/>
      <dgm:t>
        <a:bodyPr/>
        <a:lstStyle/>
        <a:p>
          <a:endParaRPr lang="en-PK"/>
        </a:p>
      </dgm:t>
    </dgm:pt>
    <dgm:pt modelId="{72707C7A-AC0F-48F9-A255-3A0A81136D17}" type="sibTrans" cxnId="{E75ABF94-F446-4910-89C1-A95B0875A883}">
      <dgm:prSet/>
      <dgm:spPr/>
      <dgm:t>
        <a:bodyPr/>
        <a:lstStyle/>
        <a:p>
          <a:endParaRPr lang="en-PK"/>
        </a:p>
      </dgm:t>
    </dgm:pt>
    <dgm:pt modelId="{E835D543-2190-4281-A278-8D1411DD3E80}">
      <dgm:prSet phldrT="[Text]" phldr="0"/>
      <dgm:spPr/>
      <dgm:t>
        <a:bodyPr/>
        <a:lstStyle/>
        <a:p>
          <a:endParaRPr lang="en-PK" dirty="0"/>
        </a:p>
      </dgm:t>
    </dgm:pt>
    <dgm:pt modelId="{2CD54A55-94FC-4AD8-9EDB-C35E53BFB20F}" type="parTrans" cxnId="{862B04BD-E4A8-4286-8293-8FEF84D1C104}">
      <dgm:prSet/>
      <dgm:spPr/>
      <dgm:t>
        <a:bodyPr/>
        <a:lstStyle/>
        <a:p>
          <a:endParaRPr lang="en-PK"/>
        </a:p>
      </dgm:t>
    </dgm:pt>
    <dgm:pt modelId="{0794E0AF-802E-4973-BD53-143B9F61D322}" type="sibTrans" cxnId="{862B04BD-E4A8-4286-8293-8FEF84D1C104}">
      <dgm:prSet/>
      <dgm:spPr/>
      <dgm:t>
        <a:bodyPr/>
        <a:lstStyle/>
        <a:p>
          <a:endParaRPr lang="en-PK"/>
        </a:p>
      </dgm:t>
    </dgm:pt>
    <dgm:pt modelId="{3DEB00C0-5DBB-4043-8EFF-35BF5E5B3C42}">
      <dgm:prSet custT="1"/>
      <dgm:spPr>
        <a:solidFill>
          <a:schemeClr val="bg2">
            <a:lumMod val="95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b="0" dirty="0">
              <a:solidFill>
                <a:schemeClr val="tx1"/>
              </a:solidFill>
            </a:rPr>
            <a:t>Streamlit UI collects inputs, sends features to model, and returns annual estimates</a:t>
          </a:r>
          <a:r>
            <a:rPr lang="en-US" sz="1000" b="0" dirty="0">
              <a:solidFill>
                <a:schemeClr val="tx1"/>
              </a:solidFill>
            </a:rPr>
            <a:t>. </a:t>
          </a:r>
          <a:endParaRPr lang="en-US" sz="1000" b="0" u="none" strike="noStrike" dirty="0">
            <a:solidFill>
              <a:schemeClr val="tx1"/>
            </a:solidFill>
            <a:effectLst/>
            <a:uFillTx/>
            <a:latin typeface="OpenSymbol"/>
          </a:endParaRPr>
        </a:p>
      </dgm:t>
    </dgm:pt>
    <dgm:pt modelId="{23431D69-3C0E-461B-A52A-AA3F1B4596C9}" type="parTrans" cxnId="{A846214C-691A-4100-9CAD-7EB23FE9E4B5}">
      <dgm:prSet/>
      <dgm:spPr/>
      <dgm:t>
        <a:bodyPr/>
        <a:lstStyle/>
        <a:p>
          <a:endParaRPr lang="en-PK"/>
        </a:p>
      </dgm:t>
    </dgm:pt>
    <dgm:pt modelId="{1F232DE2-12A6-45F0-AA34-D6A3AF69F70E}" type="sibTrans" cxnId="{A846214C-691A-4100-9CAD-7EB23FE9E4B5}">
      <dgm:prSet/>
      <dgm:spPr/>
      <dgm:t>
        <a:bodyPr/>
        <a:lstStyle/>
        <a:p>
          <a:endParaRPr lang="en-PK"/>
        </a:p>
      </dgm:t>
    </dgm:pt>
    <dgm:pt modelId="{C3988D97-8211-482D-8B47-F663E3962B74}">
      <dgm:prSet/>
      <dgm:spPr>
        <a:solidFill>
          <a:schemeClr val="bg2">
            <a:lumMod val="95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b="0" u="none" strike="noStrike" dirty="0">
              <a:solidFill>
                <a:schemeClr val="tx1"/>
              </a:solidFill>
              <a:effectLst/>
              <a:uFillTx/>
              <a:latin typeface="arial"/>
            </a:rPr>
            <a:t>Design: clean form layout, result panel, and downloadable report. </a:t>
          </a:r>
          <a:endParaRPr lang="en-US" b="0" u="none" strike="noStrike" dirty="0">
            <a:solidFill>
              <a:schemeClr val="tx1"/>
            </a:solidFill>
            <a:effectLst/>
            <a:uFillTx/>
            <a:latin typeface="OpenSymbol"/>
          </a:endParaRPr>
        </a:p>
      </dgm:t>
    </dgm:pt>
    <dgm:pt modelId="{CB5297FD-26C3-4870-B8BD-C707C652B827}" type="parTrans" cxnId="{55216F57-CC7A-4294-B613-09C184148481}">
      <dgm:prSet/>
      <dgm:spPr/>
      <dgm:t>
        <a:bodyPr/>
        <a:lstStyle/>
        <a:p>
          <a:endParaRPr lang="en-PK"/>
        </a:p>
      </dgm:t>
    </dgm:pt>
    <dgm:pt modelId="{F27FC749-6DA9-46AE-A9F1-1BFC6F66BEAC}" type="sibTrans" cxnId="{55216F57-CC7A-4294-B613-09C184148481}">
      <dgm:prSet/>
      <dgm:spPr/>
      <dgm:t>
        <a:bodyPr/>
        <a:lstStyle/>
        <a:p>
          <a:endParaRPr lang="en-PK"/>
        </a:p>
      </dgm:t>
    </dgm:pt>
    <dgm:pt modelId="{4B31239F-CF6A-4B62-AE4C-E3B12B62E9B3}" type="pres">
      <dgm:prSet presAssocID="{60938AD0-FD3A-4F06-9796-4D7B96D25316}" presName="rootnode" presStyleCnt="0">
        <dgm:presLayoutVars>
          <dgm:chMax/>
          <dgm:chPref/>
          <dgm:dir/>
          <dgm:animLvl val="lvl"/>
        </dgm:presLayoutVars>
      </dgm:prSet>
      <dgm:spPr/>
    </dgm:pt>
    <dgm:pt modelId="{0078F9E6-9691-481A-B1DB-65850A5C17C0}" type="pres">
      <dgm:prSet presAssocID="{127DA115-C140-4457-92F5-16E912A20028}" presName="composite" presStyleCnt="0"/>
      <dgm:spPr/>
    </dgm:pt>
    <dgm:pt modelId="{1478EC36-C70E-4228-8592-93C138C9E702}" type="pres">
      <dgm:prSet presAssocID="{127DA115-C140-4457-92F5-16E912A20028}" presName="bentUpArrow1" presStyleLbl="alignImgPlace1" presStyleIdx="0" presStyleCnt="3"/>
      <dgm:spPr>
        <a:ln>
          <a:solidFill>
            <a:schemeClr val="tx1">
              <a:lumMod val="25000"/>
              <a:lumOff val="75000"/>
            </a:schemeClr>
          </a:solidFill>
        </a:ln>
      </dgm:spPr>
    </dgm:pt>
    <dgm:pt modelId="{72E3C462-1E29-4278-9F85-F6861FBA9D79}" type="pres">
      <dgm:prSet presAssocID="{127DA115-C140-4457-92F5-16E912A20028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AF17A97F-DA4F-4596-9565-779A39DC1974}" type="pres">
      <dgm:prSet presAssocID="{127DA115-C140-4457-92F5-16E912A20028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22AAB05-9E8F-4E6F-BB74-5732AE9D80BE}" type="pres">
      <dgm:prSet presAssocID="{58EDCCC6-60C2-4386-8880-1B45B9D8C262}" presName="sibTrans" presStyleCnt="0"/>
      <dgm:spPr/>
    </dgm:pt>
    <dgm:pt modelId="{21E7F19E-C484-4F32-ABEE-8A568DC31F8C}" type="pres">
      <dgm:prSet presAssocID="{71F3319C-46EE-44E3-BD58-5DC75741949C}" presName="composite" presStyleCnt="0"/>
      <dgm:spPr/>
    </dgm:pt>
    <dgm:pt modelId="{6E78018A-07A1-4D81-A2A6-58BC1E5BB593}" type="pres">
      <dgm:prSet presAssocID="{71F3319C-46EE-44E3-BD58-5DC75741949C}" presName="bentUpArrow1" presStyleLbl="alignImgPlace1" presStyleIdx="1" presStyleCnt="3"/>
      <dgm:spPr>
        <a:ln>
          <a:solidFill>
            <a:schemeClr val="tx1">
              <a:lumMod val="25000"/>
              <a:lumOff val="75000"/>
            </a:schemeClr>
          </a:solidFill>
        </a:ln>
      </dgm:spPr>
    </dgm:pt>
    <dgm:pt modelId="{B0663E0B-8728-4651-866B-C6F20B52B78C}" type="pres">
      <dgm:prSet presAssocID="{71F3319C-46EE-44E3-BD58-5DC75741949C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39EFD8F2-FE6C-48AC-A7BB-BD05D2623D6A}" type="pres">
      <dgm:prSet presAssocID="{71F3319C-46EE-44E3-BD58-5DC75741949C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FAA77248-11F5-4776-B2FD-1B5AAD88F1EC}" type="pres">
      <dgm:prSet presAssocID="{72707C7A-AC0F-48F9-A255-3A0A81136D17}" presName="sibTrans" presStyleCnt="0"/>
      <dgm:spPr/>
    </dgm:pt>
    <dgm:pt modelId="{445EEE82-2E50-440F-886C-268F9732FFFA}" type="pres">
      <dgm:prSet presAssocID="{3DEB00C0-5DBB-4043-8EFF-35BF5E5B3C42}" presName="composite" presStyleCnt="0"/>
      <dgm:spPr/>
    </dgm:pt>
    <dgm:pt modelId="{6B5829D5-0619-48B9-B0E2-5AD373F8213A}" type="pres">
      <dgm:prSet presAssocID="{3DEB00C0-5DBB-4043-8EFF-35BF5E5B3C42}" presName="bentUpArrow1" presStyleLbl="alignImgPlace1" presStyleIdx="2" presStyleCnt="3"/>
      <dgm:spPr>
        <a:ln>
          <a:solidFill>
            <a:schemeClr val="tx1">
              <a:lumMod val="25000"/>
              <a:lumOff val="75000"/>
            </a:schemeClr>
          </a:solidFill>
        </a:ln>
      </dgm:spPr>
    </dgm:pt>
    <dgm:pt modelId="{26697A03-2410-4C46-9546-3122066BF986}" type="pres">
      <dgm:prSet presAssocID="{3DEB00C0-5DBB-4043-8EFF-35BF5E5B3C42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628342C9-2B08-4ED1-A922-FF5FC13FE77F}" type="pres">
      <dgm:prSet presAssocID="{3DEB00C0-5DBB-4043-8EFF-35BF5E5B3C42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EDE9C1BE-CDD0-4A93-B7D6-368811B7CAFF}" type="pres">
      <dgm:prSet presAssocID="{1F232DE2-12A6-45F0-AA34-D6A3AF69F70E}" presName="sibTrans" presStyleCnt="0"/>
      <dgm:spPr/>
    </dgm:pt>
    <dgm:pt modelId="{CBC2D94C-C0D8-481D-AF73-0534A74C70AE}" type="pres">
      <dgm:prSet presAssocID="{C3988D97-8211-482D-8B47-F663E3962B74}" presName="composite" presStyleCnt="0"/>
      <dgm:spPr/>
    </dgm:pt>
    <dgm:pt modelId="{D733AFB6-2657-4623-A661-3C1CEBCABFFA}" type="pres">
      <dgm:prSet presAssocID="{C3988D97-8211-482D-8B47-F663E3962B74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197C7E25-EC16-4E35-B22A-3051C0D98C73}" srcId="{127DA115-C140-4457-92F5-16E912A20028}" destId="{BBF4707C-FE79-4C23-9161-BC96DF831440}" srcOrd="0" destOrd="0" parTransId="{AB579841-D9CC-4587-815B-47C1D1C5C381}" sibTransId="{95141A17-0F4B-43CE-9A86-0AC81C21B746}"/>
    <dgm:cxn modelId="{99CDFA35-EF29-446E-9754-48A23FAB4CB6}" srcId="{60938AD0-FD3A-4F06-9796-4D7B96D25316}" destId="{127DA115-C140-4457-92F5-16E912A20028}" srcOrd="0" destOrd="0" parTransId="{3D1013EC-D3F2-42D2-912A-311512D00E24}" sibTransId="{58EDCCC6-60C2-4386-8880-1B45B9D8C262}"/>
    <dgm:cxn modelId="{DC249F68-7916-4AA6-98AB-252E62057045}" type="presOf" srcId="{60938AD0-FD3A-4F06-9796-4D7B96D25316}" destId="{4B31239F-CF6A-4B62-AE4C-E3B12B62E9B3}" srcOrd="0" destOrd="0" presId="urn:microsoft.com/office/officeart/2005/8/layout/StepDownProcess"/>
    <dgm:cxn modelId="{01521F4B-740C-47E5-A791-7D14A00307B0}" type="presOf" srcId="{BBF4707C-FE79-4C23-9161-BC96DF831440}" destId="{AF17A97F-DA4F-4596-9565-779A39DC1974}" srcOrd="0" destOrd="0" presId="urn:microsoft.com/office/officeart/2005/8/layout/StepDownProcess"/>
    <dgm:cxn modelId="{A846214C-691A-4100-9CAD-7EB23FE9E4B5}" srcId="{60938AD0-FD3A-4F06-9796-4D7B96D25316}" destId="{3DEB00C0-5DBB-4043-8EFF-35BF5E5B3C42}" srcOrd="2" destOrd="0" parTransId="{23431D69-3C0E-461B-A52A-AA3F1B4596C9}" sibTransId="{1F232DE2-12A6-45F0-AA34-D6A3AF69F70E}"/>
    <dgm:cxn modelId="{A4D35C6D-C47C-48DF-BDBC-E892F49B7F22}" type="presOf" srcId="{127DA115-C140-4457-92F5-16E912A20028}" destId="{72E3C462-1E29-4278-9F85-F6861FBA9D79}" srcOrd="0" destOrd="0" presId="urn:microsoft.com/office/officeart/2005/8/layout/StepDownProcess"/>
    <dgm:cxn modelId="{E9CD0476-0110-4FEC-9B45-C0749234EF39}" type="presOf" srcId="{71F3319C-46EE-44E3-BD58-5DC75741949C}" destId="{B0663E0B-8728-4651-866B-C6F20B52B78C}" srcOrd="0" destOrd="0" presId="urn:microsoft.com/office/officeart/2005/8/layout/StepDownProcess"/>
    <dgm:cxn modelId="{55216F57-CC7A-4294-B613-09C184148481}" srcId="{60938AD0-FD3A-4F06-9796-4D7B96D25316}" destId="{C3988D97-8211-482D-8B47-F663E3962B74}" srcOrd="3" destOrd="0" parTransId="{CB5297FD-26C3-4870-B8BD-C707C652B827}" sibTransId="{F27FC749-6DA9-46AE-A9F1-1BFC6F66BEAC}"/>
    <dgm:cxn modelId="{56CE6B78-A67E-40A5-9402-B47EE8DE6E90}" type="presOf" srcId="{C3988D97-8211-482D-8B47-F663E3962B74}" destId="{D733AFB6-2657-4623-A661-3C1CEBCABFFA}" srcOrd="0" destOrd="0" presId="urn:microsoft.com/office/officeart/2005/8/layout/StepDownProcess"/>
    <dgm:cxn modelId="{E75ABF94-F446-4910-89C1-A95B0875A883}" srcId="{60938AD0-FD3A-4F06-9796-4D7B96D25316}" destId="{71F3319C-46EE-44E3-BD58-5DC75741949C}" srcOrd="1" destOrd="0" parTransId="{F3C1ECE6-A47A-4148-8B6F-B097D23CF8EE}" sibTransId="{72707C7A-AC0F-48F9-A255-3A0A81136D17}"/>
    <dgm:cxn modelId="{862B04BD-E4A8-4286-8293-8FEF84D1C104}" srcId="{71F3319C-46EE-44E3-BD58-5DC75741949C}" destId="{E835D543-2190-4281-A278-8D1411DD3E80}" srcOrd="0" destOrd="0" parTransId="{2CD54A55-94FC-4AD8-9EDB-C35E53BFB20F}" sibTransId="{0794E0AF-802E-4973-BD53-143B9F61D322}"/>
    <dgm:cxn modelId="{F5350BC3-B014-42D9-B4CF-24A7F5336DA4}" type="presOf" srcId="{3DEB00C0-5DBB-4043-8EFF-35BF5E5B3C42}" destId="{26697A03-2410-4C46-9546-3122066BF986}" srcOrd="0" destOrd="0" presId="urn:microsoft.com/office/officeart/2005/8/layout/StepDownProcess"/>
    <dgm:cxn modelId="{287520E8-6905-41FA-B1E9-1FE930ACF709}" type="presOf" srcId="{E835D543-2190-4281-A278-8D1411DD3E80}" destId="{39EFD8F2-FE6C-48AC-A7BB-BD05D2623D6A}" srcOrd="0" destOrd="0" presId="urn:microsoft.com/office/officeart/2005/8/layout/StepDownProcess"/>
    <dgm:cxn modelId="{4F54C58E-EF5E-457E-9391-13D0C69A9B6F}" type="presParOf" srcId="{4B31239F-CF6A-4B62-AE4C-E3B12B62E9B3}" destId="{0078F9E6-9691-481A-B1DB-65850A5C17C0}" srcOrd="0" destOrd="0" presId="urn:microsoft.com/office/officeart/2005/8/layout/StepDownProcess"/>
    <dgm:cxn modelId="{48BA430D-1DBA-4977-8B34-91218C36C437}" type="presParOf" srcId="{0078F9E6-9691-481A-B1DB-65850A5C17C0}" destId="{1478EC36-C70E-4228-8592-93C138C9E702}" srcOrd="0" destOrd="0" presId="urn:microsoft.com/office/officeart/2005/8/layout/StepDownProcess"/>
    <dgm:cxn modelId="{004358C7-1D6B-4215-A332-8E5EFBCBD90D}" type="presParOf" srcId="{0078F9E6-9691-481A-B1DB-65850A5C17C0}" destId="{72E3C462-1E29-4278-9F85-F6861FBA9D79}" srcOrd="1" destOrd="0" presId="urn:microsoft.com/office/officeart/2005/8/layout/StepDownProcess"/>
    <dgm:cxn modelId="{BE003A53-6812-41A6-A0A7-CBC32DFDDB53}" type="presParOf" srcId="{0078F9E6-9691-481A-B1DB-65850A5C17C0}" destId="{AF17A97F-DA4F-4596-9565-779A39DC1974}" srcOrd="2" destOrd="0" presId="urn:microsoft.com/office/officeart/2005/8/layout/StepDownProcess"/>
    <dgm:cxn modelId="{C5A0A762-2ED3-41CD-9B30-ADF3D5A0A0E9}" type="presParOf" srcId="{4B31239F-CF6A-4B62-AE4C-E3B12B62E9B3}" destId="{122AAB05-9E8F-4E6F-BB74-5732AE9D80BE}" srcOrd="1" destOrd="0" presId="urn:microsoft.com/office/officeart/2005/8/layout/StepDownProcess"/>
    <dgm:cxn modelId="{DD768D72-CBDC-4749-BC48-9F5AF68397B0}" type="presParOf" srcId="{4B31239F-CF6A-4B62-AE4C-E3B12B62E9B3}" destId="{21E7F19E-C484-4F32-ABEE-8A568DC31F8C}" srcOrd="2" destOrd="0" presId="urn:microsoft.com/office/officeart/2005/8/layout/StepDownProcess"/>
    <dgm:cxn modelId="{87B1AFE0-CB06-4285-9248-671263A705AA}" type="presParOf" srcId="{21E7F19E-C484-4F32-ABEE-8A568DC31F8C}" destId="{6E78018A-07A1-4D81-A2A6-58BC1E5BB593}" srcOrd="0" destOrd="0" presId="urn:microsoft.com/office/officeart/2005/8/layout/StepDownProcess"/>
    <dgm:cxn modelId="{80FAE36C-ABD4-42FD-9C91-B230DBE548AE}" type="presParOf" srcId="{21E7F19E-C484-4F32-ABEE-8A568DC31F8C}" destId="{B0663E0B-8728-4651-866B-C6F20B52B78C}" srcOrd="1" destOrd="0" presId="urn:microsoft.com/office/officeart/2005/8/layout/StepDownProcess"/>
    <dgm:cxn modelId="{7B534AF6-9DDA-48E8-8B17-46A12CAE7F0C}" type="presParOf" srcId="{21E7F19E-C484-4F32-ABEE-8A568DC31F8C}" destId="{39EFD8F2-FE6C-48AC-A7BB-BD05D2623D6A}" srcOrd="2" destOrd="0" presId="urn:microsoft.com/office/officeart/2005/8/layout/StepDownProcess"/>
    <dgm:cxn modelId="{D520D67E-DDB3-49D9-84FB-CDA484B19421}" type="presParOf" srcId="{4B31239F-CF6A-4B62-AE4C-E3B12B62E9B3}" destId="{FAA77248-11F5-4776-B2FD-1B5AAD88F1EC}" srcOrd="3" destOrd="0" presId="urn:microsoft.com/office/officeart/2005/8/layout/StepDownProcess"/>
    <dgm:cxn modelId="{8316D73A-5F16-43EE-818E-636171F58399}" type="presParOf" srcId="{4B31239F-CF6A-4B62-AE4C-E3B12B62E9B3}" destId="{445EEE82-2E50-440F-886C-268F9732FFFA}" srcOrd="4" destOrd="0" presId="urn:microsoft.com/office/officeart/2005/8/layout/StepDownProcess"/>
    <dgm:cxn modelId="{5AED20BB-A858-4E27-B3E2-0E8AA47A96B0}" type="presParOf" srcId="{445EEE82-2E50-440F-886C-268F9732FFFA}" destId="{6B5829D5-0619-48B9-B0E2-5AD373F8213A}" srcOrd="0" destOrd="0" presId="urn:microsoft.com/office/officeart/2005/8/layout/StepDownProcess"/>
    <dgm:cxn modelId="{7F8AD2D6-4DA7-4E20-B3C5-69BCA2E88FEC}" type="presParOf" srcId="{445EEE82-2E50-440F-886C-268F9732FFFA}" destId="{26697A03-2410-4C46-9546-3122066BF986}" srcOrd="1" destOrd="0" presId="urn:microsoft.com/office/officeart/2005/8/layout/StepDownProcess"/>
    <dgm:cxn modelId="{3C4F2BAE-C2E2-4E99-A5ED-79D366D32560}" type="presParOf" srcId="{445EEE82-2E50-440F-886C-268F9732FFFA}" destId="{628342C9-2B08-4ED1-A922-FF5FC13FE77F}" srcOrd="2" destOrd="0" presId="urn:microsoft.com/office/officeart/2005/8/layout/StepDownProcess"/>
    <dgm:cxn modelId="{4EE8A9FC-EA53-48CB-832E-700CEDB2A463}" type="presParOf" srcId="{4B31239F-CF6A-4B62-AE4C-E3B12B62E9B3}" destId="{EDE9C1BE-CDD0-4A93-B7D6-368811B7CAFF}" srcOrd="5" destOrd="0" presId="urn:microsoft.com/office/officeart/2005/8/layout/StepDownProcess"/>
    <dgm:cxn modelId="{01B76A7B-F141-4F0D-8883-B9D0E5A70E50}" type="presParOf" srcId="{4B31239F-CF6A-4B62-AE4C-E3B12B62E9B3}" destId="{CBC2D94C-C0D8-481D-AF73-0534A74C70AE}" srcOrd="6" destOrd="0" presId="urn:microsoft.com/office/officeart/2005/8/layout/StepDownProcess"/>
    <dgm:cxn modelId="{733E73B8-F841-4694-883A-A0C8998F1C4E}" type="presParOf" srcId="{CBC2D94C-C0D8-481D-AF73-0534A74C70AE}" destId="{D733AFB6-2657-4623-A661-3C1CEBCABFFA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1B1374-B0A4-45F7-A7F2-B972B0F8B4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307C4142-8CCC-43B8-86B8-10B63B6BAAC8}">
      <dgm:prSet phldrT="[Text]" phldr="0" custT="1"/>
      <dgm:spPr>
        <a:solidFill>
          <a:schemeClr val="tx1">
            <a:lumMod val="25000"/>
            <a:lumOff val="75000"/>
          </a:schemeClr>
        </a:solidFill>
        <a:ln>
          <a:solidFill>
            <a:srgbClr val="FF0000"/>
          </a:solidFill>
        </a:ln>
      </dgm:spPr>
      <dgm:t>
        <a:bodyPr/>
        <a:lstStyle/>
        <a:p>
          <a:pPr algn="ctr"/>
          <a:r>
            <a:rPr lang="en-US" sz="2300" i="1" dirty="0">
              <a:solidFill>
                <a:schemeClr val="tx1"/>
              </a:solidFill>
            </a:rPr>
            <a:t>Risk Factors</a:t>
          </a:r>
          <a:endParaRPr lang="en-PK" sz="2300" i="1" dirty="0">
            <a:solidFill>
              <a:schemeClr val="tx1"/>
            </a:solidFill>
          </a:endParaRPr>
        </a:p>
      </dgm:t>
    </dgm:pt>
    <dgm:pt modelId="{60437B09-4675-4A6D-8CD0-5999DE04B4A7}" type="parTrans" cxnId="{1A3749A3-AC46-4E91-BE73-E56AA95A43A2}">
      <dgm:prSet/>
      <dgm:spPr/>
      <dgm:t>
        <a:bodyPr/>
        <a:lstStyle/>
        <a:p>
          <a:endParaRPr lang="en-PK"/>
        </a:p>
      </dgm:t>
    </dgm:pt>
    <dgm:pt modelId="{F6B2056E-12C6-435D-9B8B-1434D26E8432}" type="sibTrans" cxnId="{1A3749A3-AC46-4E91-BE73-E56AA95A43A2}">
      <dgm:prSet/>
      <dgm:spPr/>
      <dgm:t>
        <a:bodyPr/>
        <a:lstStyle/>
        <a:p>
          <a:endParaRPr lang="en-PK"/>
        </a:p>
      </dgm:t>
    </dgm:pt>
    <dgm:pt modelId="{CDC24B6D-8D2B-4A8B-8953-DE5E9A01B288}">
      <dgm:prSet phldrT="[Text]" custT="1"/>
      <dgm:spPr>
        <a:solidFill>
          <a:schemeClr val="bg2">
            <a:lumMod val="85000"/>
          </a:schemeClr>
        </a:solidFill>
        <a:ln w="28575">
          <a:solidFill>
            <a:srgbClr val="00206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800" b="0" u="none" strike="noStrike" dirty="0">
              <a:solidFill>
                <a:schemeClr val="dk1"/>
              </a:solidFill>
              <a:effectLst/>
              <a:uFillTx/>
              <a:latin typeface="arial"/>
            </a:rPr>
            <a:t>System flags high-risk factors (smoking, high BMI, comorbidities) and highlights their contribution to cost. </a:t>
          </a:r>
          <a:endParaRPr lang="en-PK" sz="1800" dirty="0"/>
        </a:p>
      </dgm:t>
    </dgm:pt>
    <dgm:pt modelId="{2A13CE5F-5142-44B1-8107-F820F9F4C7F3}" type="parTrans" cxnId="{6C2A0D9A-C293-4272-81E7-98ECA81D9F47}">
      <dgm:prSet/>
      <dgm:spPr/>
      <dgm:t>
        <a:bodyPr/>
        <a:lstStyle/>
        <a:p>
          <a:endParaRPr lang="en-PK"/>
        </a:p>
      </dgm:t>
    </dgm:pt>
    <dgm:pt modelId="{5BA54D28-3C8C-4606-8873-AB2D741E0DAE}" type="sibTrans" cxnId="{6C2A0D9A-C293-4272-81E7-98ECA81D9F47}">
      <dgm:prSet/>
      <dgm:spPr/>
      <dgm:t>
        <a:bodyPr/>
        <a:lstStyle/>
        <a:p>
          <a:endParaRPr lang="en-PK"/>
        </a:p>
      </dgm:t>
    </dgm:pt>
    <dgm:pt modelId="{73FD2557-0AB1-486B-A220-CB9ED115E304}">
      <dgm:prSet phldrT="[Text]" phldr="0" custT="1"/>
      <dgm:spPr>
        <a:solidFill>
          <a:schemeClr val="tx1">
            <a:lumMod val="25000"/>
            <a:lumOff val="75000"/>
          </a:schemeClr>
        </a:solidFill>
        <a:ln>
          <a:solidFill>
            <a:srgbClr val="FF0000"/>
          </a:solidFill>
        </a:ln>
      </dgm:spPr>
      <dgm:t>
        <a:bodyPr/>
        <a:lstStyle/>
        <a:p>
          <a:pPr algn="ctr"/>
          <a:r>
            <a:rPr lang="en-US" sz="2300" b="0" i="1" dirty="0">
              <a:solidFill>
                <a:schemeClr val="tx1"/>
              </a:solidFill>
            </a:rPr>
            <a:t>Feedback &amp; Disclaimer</a:t>
          </a:r>
          <a:endParaRPr lang="en-PK" sz="2300" b="0" i="1" dirty="0">
            <a:solidFill>
              <a:schemeClr val="tx1"/>
            </a:solidFill>
          </a:endParaRPr>
        </a:p>
      </dgm:t>
    </dgm:pt>
    <dgm:pt modelId="{3D14196E-2F75-4275-9087-CBC898FCE489}" type="parTrans" cxnId="{AFC61031-1513-4C3C-A6FF-908EE6F0A4FB}">
      <dgm:prSet/>
      <dgm:spPr/>
      <dgm:t>
        <a:bodyPr/>
        <a:lstStyle/>
        <a:p>
          <a:endParaRPr lang="en-PK"/>
        </a:p>
      </dgm:t>
    </dgm:pt>
    <dgm:pt modelId="{6ED6F4E9-9F91-4E5B-B126-C9EBDDB78113}" type="sibTrans" cxnId="{AFC61031-1513-4C3C-A6FF-908EE6F0A4FB}">
      <dgm:prSet/>
      <dgm:spPr/>
      <dgm:t>
        <a:bodyPr/>
        <a:lstStyle/>
        <a:p>
          <a:endParaRPr lang="en-PK"/>
        </a:p>
      </dgm:t>
    </dgm:pt>
    <dgm:pt modelId="{037DAE23-DB5A-455E-B229-9E573857489A}">
      <dgm:prSet phldrT="[Text]" custT="1"/>
      <dgm:spPr>
        <a:solidFill>
          <a:schemeClr val="bg2">
            <a:lumMod val="85000"/>
          </a:schemeClr>
        </a:solidFill>
        <a:ln w="28575">
          <a:solidFill>
            <a:srgbClr val="00206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800" b="0" u="none" strike="noStrike" dirty="0">
              <a:solidFill>
                <a:schemeClr val="dk1"/>
              </a:solidFill>
              <a:effectLst/>
              <a:uFillTx/>
              <a:latin typeface="arial"/>
            </a:rPr>
            <a:t>Provide actionable feedback and disclaimers; option to export recommendations.</a:t>
          </a:r>
          <a:endParaRPr lang="en-PK" sz="1800" dirty="0"/>
        </a:p>
      </dgm:t>
    </dgm:pt>
    <dgm:pt modelId="{8E8AA869-2256-411D-967B-22A363A50910}" type="parTrans" cxnId="{5706451B-543A-43EC-B658-41F9C13BEAEA}">
      <dgm:prSet/>
      <dgm:spPr/>
      <dgm:t>
        <a:bodyPr/>
        <a:lstStyle/>
        <a:p>
          <a:endParaRPr lang="en-PK"/>
        </a:p>
      </dgm:t>
    </dgm:pt>
    <dgm:pt modelId="{E94FAB9E-9619-45D6-9B70-CA265F17F86A}" type="sibTrans" cxnId="{5706451B-543A-43EC-B658-41F9C13BEAEA}">
      <dgm:prSet/>
      <dgm:spPr/>
      <dgm:t>
        <a:bodyPr/>
        <a:lstStyle/>
        <a:p>
          <a:endParaRPr lang="en-PK"/>
        </a:p>
      </dgm:t>
    </dgm:pt>
    <dgm:pt modelId="{0785836F-8A3C-4759-A01E-7D145EE852D5}" type="pres">
      <dgm:prSet presAssocID="{361B1374-B0A4-45F7-A7F2-B972B0F8B4C1}" presName="linear" presStyleCnt="0">
        <dgm:presLayoutVars>
          <dgm:animLvl val="lvl"/>
          <dgm:resizeHandles val="exact"/>
        </dgm:presLayoutVars>
      </dgm:prSet>
      <dgm:spPr/>
    </dgm:pt>
    <dgm:pt modelId="{189BA2A9-0A74-43AB-926F-CAD2BF3C2ACA}" type="pres">
      <dgm:prSet presAssocID="{307C4142-8CCC-43B8-86B8-10B63B6BAAC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04C5CA9-9C63-4913-BA72-7D72AFF91595}" type="pres">
      <dgm:prSet presAssocID="{307C4142-8CCC-43B8-86B8-10B63B6BAAC8}" presName="childText" presStyleLbl="revTx" presStyleIdx="0" presStyleCnt="2">
        <dgm:presLayoutVars>
          <dgm:bulletEnabled val="1"/>
        </dgm:presLayoutVars>
      </dgm:prSet>
      <dgm:spPr/>
    </dgm:pt>
    <dgm:pt modelId="{769F62FB-6553-49B3-8D31-917694876CF6}" type="pres">
      <dgm:prSet presAssocID="{73FD2557-0AB1-486B-A220-CB9ED115E30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E097A28-A830-4985-830F-0F5E61961301}" type="pres">
      <dgm:prSet presAssocID="{73FD2557-0AB1-486B-A220-CB9ED115E30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706451B-543A-43EC-B658-41F9C13BEAEA}" srcId="{73FD2557-0AB1-486B-A220-CB9ED115E304}" destId="{037DAE23-DB5A-455E-B229-9E573857489A}" srcOrd="0" destOrd="0" parTransId="{8E8AA869-2256-411D-967B-22A363A50910}" sibTransId="{E94FAB9E-9619-45D6-9B70-CA265F17F86A}"/>
    <dgm:cxn modelId="{4C2E0D30-A70F-4668-901F-2637743F05C9}" type="presOf" srcId="{CDC24B6D-8D2B-4A8B-8953-DE5E9A01B288}" destId="{204C5CA9-9C63-4913-BA72-7D72AFF91595}" srcOrd="0" destOrd="0" presId="urn:microsoft.com/office/officeart/2005/8/layout/vList2"/>
    <dgm:cxn modelId="{AFC61031-1513-4C3C-A6FF-908EE6F0A4FB}" srcId="{361B1374-B0A4-45F7-A7F2-B972B0F8B4C1}" destId="{73FD2557-0AB1-486B-A220-CB9ED115E304}" srcOrd="1" destOrd="0" parTransId="{3D14196E-2F75-4275-9087-CBC898FCE489}" sibTransId="{6ED6F4E9-9F91-4E5B-B126-C9EBDDB78113}"/>
    <dgm:cxn modelId="{EA7BF978-5555-44CF-941C-C00BE4B39DFD}" type="presOf" srcId="{73FD2557-0AB1-486B-A220-CB9ED115E304}" destId="{769F62FB-6553-49B3-8D31-917694876CF6}" srcOrd="0" destOrd="0" presId="urn:microsoft.com/office/officeart/2005/8/layout/vList2"/>
    <dgm:cxn modelId="{6C2A0D9A-C293-4272-81E7-98ECA81D9F47}" srcId="{307C4142-8CCC-43B8-86B8-10B63B6BAAC8}" destId="{CDC24B6D-8D2B-4A8B-8953-DE5E9A01B288}" srcOrd="0" destOrd="0" parTransId="{2A13CE5F-5142-44B1-8107-F820F9F4C7F3}" sibTransId="{5BA54D28-3C8C-4606-8873-AB2D741E0DAE}"/>
    <dgm:cxn modelId="{1A3749A3-AC46-4E91-BE73-E56AA95A43A2}" srcId="{361B1374-B0A4-45F7-A7F2-B972B0F8B4C1}" destId="{307C4142-8CCC-43B8-86B8-10B63B6BAAC8}" srcOrd="0" destOrd="0" parTransId="{60437B09-4675-4A6D-8CD0-5999DE04B4A7}" sibTransId="{F6B2056E-12C6-435D-9B8B-1434D26E8432}"/>
    <dgm:cxn modelId="{C1CC38B5-E228-4CE5-AB4F-E4BFB84CC602}" type="presOf" srcId="{307C4142-8CCC-43B8-86B8-10B63B6BAAC8}" destId="{189BA2A9-0A74-43AB-926F-CAD2BF3C2ACA}" srcOrd="0" destOrd="0" presId="urn:microsoft.com/office/officeart/2005/8/layout/vList2"/>
    <dgm:cxn modelId="{47F145CD-A1E9-4305-96BF-027FEB4308EB}" type="presOf" srcId="{361B1374-B0A4-45F7-A7F2-B972B0F8B4C1}" destId="{0785836F-8A3C-4759-A01E-7D145EE852D5}" srcOrd="0" destOrd="0" presId="urn:microsoft.com/office/officeart/2005/8/layout/vList2"/>
    <dgm:cxn modelId="{59F0D1F1-2529-46CA-A9A0-D805E073D6CD}" type="presOf" srcId="{037DAE23-DB5A-455E-B229-9E573857489A}" destId="{3E097A28-A830-4985-830F-0F5E61961301}" srcOrd="0" destOrd="0" presId="urn:microsoft.com/office/officeart/2005/8/layout/vList2"/>
    <dgm:cxn modelId="{27A9A9EA-AB9A-4528-A4D5-66EBE089B698}" type="presParOf" srcId="{0785836F-8A3C-4759-A01E-7D145EE852D5}" destId="{189BA2A9-0A74-43AB-926F-CAD2BF3C2ACA}" srcOrd="0" destOrd="0" presId="urn:microsoft.com/office/officeart/2005/8/layout/vList2"/>
    <dgm:cxn modelId="{A94E0CD7-CCA9-46AD-AA87-B0B5E03859BB}" type="presParOf" srcId="{0785836F-8A3C-4759-A01E-7D145EE852D5}" destId="{204C5CA9-9C63-4913-BA72-7D72AFF91595}" srcOrd="1" destOrd="0" presId="urn:microsoft.com/office/officeart/2005/8/layout/vList2"/>
    <dgm:cxn modelId="{55BE4418-5590-43F0-BCF6-7CF3A4187D90}" type="presParOf" srcId="{0785836F-8A3C-4759-A01E-7D145EE852D5}" destId="{769F62FB-6553-49B3-8D31-917694876CF6}" srcOrd="2" destOrd="0" presId="urn:microsoft.com/office/officeart/2005/8/layout/vList2"/>
    <dgm:cxn modelId="{3E3F26BA-3245-4272-ACD5-4A1213440842}" type="presParOf" srcId="{0785836F-8A3C-4759-A01E-7D145EE852D5}" destId="{3E097A28-A830-4985-830F-0F5E6196130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F49F4-0939-4918-A5DE-28BEA06A4D11}">
      <dsp:nvSpPr>
        <dsp:cNvPr id="0" name=""/>
        <dsp:cNvSpPr/>
      </dsp:nvSpPr>
      <dsp:spPr>
        <a:xfrm>
          <a:off x="0" y="1222720"/>
          <a:ext cx="6096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89B11-B99C-46A6-9561-C8D975E85A66}">
      <dsp:nvSpPr>
        <dsp:cNvPr id="0" name=""/>
        <dsp:cNvSpPr/>
      </dsp:nvSpPr>
      <dsp:spPr>
        <a:xfrm>
          <a:off x="304800" y="986560"/>
          <a:ext cx="4267200" cy="472320"/>
        </a:xfrm>
        <a:prstGeom prst="roundRect">
          <a:avLst/>
        </a:prstGeom>
        <a:solidFill>
          <a:schemeClr val="tx1">
            <a:lumMod val="10000"/>
            <a:lumOff val="9000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Label encoding used for categorical features (smoker, insurance type)</a:t>
          </a:r>
          <a:endParaRPr lang="en-PK" sz="1600" kern="1200" dirty="0">
            <a:solidFill>
              <a:schemeClr val="tx1"/>
            </a:solidFill>
          </a:endParaRPr>
        </a:p>
      </dsp:txBody>
      <dsp:txXfrm>
        <a:off x="327857" y="1009617"/>
        <a:ext cx="4221086" cy="426206"/>
      </dsp:txXfrm>
    </dsp:sp>
    <dsp:sp modelId="{43E3DFDD-5A47-4DBC-A6A3-EE2C2CD4AC06}">
      <dsp:nvSpPr>
        <dsp:cNvPr id="0" name=""/>
        <dsp:cNvSpPr/>
      </dsp:nvSpPr>
      <dsp:spPr>
        <a:xfrm>
          <a:off x="0" y="1948480"/>
          <a:ext cx="6096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9E362-7060-4D7B-B04B-FDE45B4AF959}">
      <dsp:nvSpPr>
        <dsp:cNvPr id="0" name=""/>
        <dsp:cNvSpPr/>
      </dsp:nvSpPr>
      <dsp:spPr>
        <a:xfrm>
          <a:off x="304800" y="1712320"/>
          <a:ext cx="4267200" cy="472320"/>
        </a:xfrm>
        <a:prstGeom prst="roundRect">
          <a:avLst/>
        </a:prstGeom>
        <a:solidFill>
          <a:schemeClr val="tx1">
            <a:lumMod val="10000"/>
            <a:lumOff val="9000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u="none" strike="noStrike" kern="1200" dirty="0">
              <a:solidFill>
                <a:schemeClr val="dk1"/>
              </a:solidFill>
              <a:effectLst/>
              <a:uFillTx/>
              <a:latin typeface="arial"/>
            </a:rPr>
            <a:t>Feature selection via correlation analysis and importance from preliminary models. </a:t>
          </a:r>
          <a:endParaRPr lang="en-PK" sz="1600" kern="1200" dirty="0"/>
        </a:p>
      </dsp:txBody>
      <dsp:txXfrm>
        <a:off x="327857" y="1735377"/>
        <a:ext cx="4221086" cy="426206"/>
      </dsp:txXfrm>
    </dsp:sp>
    <dsp:sp modelId="{E49D0C5C-F6CA-4C82-8C58-5D1B79A4AC0E}">
      <dsp:nvSpPr>
        <dsp:cNvPr id="0" name=""/>
        <dsp:cNvSpPr/>
      </dsp:nvSpPr>
      <dsp:spPr>
        <a:xfrm>
          <a:off x="0" y="2674239"/>
          <a:ext cx="6096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DDA36-4009-4DA4-8C06-5CA40A3051B7}">
      <dsp:nvSpPr>
        <dsp:cNvPr id="0" name=""/>
        <dsp:cNvSpPr/>
      </dsp:nvSpPr>
      <dsp:spPr>
        <a:xfrm>
          <a:off x="304800" y="2438080"/>
          <a:ext cx="4267200" cy="472320"/>
        </a:xfrm>
        <a:prstGeom prst="roundRect">
          <a:avLst/>
        </a:prstGeom>
        <a:solidFill>
          <a:schemeClr val="tx1">
            <a:lumMod val="10000"/>
            <a:lumOff val="9000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No scaling required due to tree-based model</a:t>
          </a:r>
          <a:endParaRPr lang="en-PK" sz="1600" kern="1200" dirty="0">
            <a:solidFill>
              <a:schemeClr val="tx1"/>
            </a:solidFill>
          </a:endParaRPr>
        </a:p>
      </dsp:txBody>
      <dsp:txXfrm>
        <a:off x="327857" y="2461137"/>
        <a:ext cx="422108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8EC36-C70E-4228-8592-93C138C9E702}">
      <dsp:nvSpPr>
        <dsp:cNvPr id="0" name=""/>
        <dsp:cNvSpPr/>
      </dsp:nvSpPr>
      <dsp:spPr>
        <a:xfrm rot="5400000">
          <a:off x="933789" y="909448"/>
          <a:ext cx="798693" cy="90928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25000"/>
              <a:lumOff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3C462-1E29-4278-9F85-F6861FBA9D79}">
      <dsp:nvSpPr>
        <dsp:cNvPr id="0" name=""/>
        <dsp:cNvSpPr/>
      </dsp:nvSpPr>
      <dsp:spPr>
        <a:xfrm>
          <a:off x="722184" y="24080"/>
          <a:ext cx="1344529" cy="941126"/>
        </a:xfrm>
        <a:prstGeom prst="roundRect">
          <a:avLst>
            <a:gd name="adj" fmla="val 16670"/>
          </a:avLst>
        </a:prstGeom>
        <a:solidFill>
          <a:schemeClr val="bg2">
            <a:lumMod val="9500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 dirty="0">
              <a:solidFill>
                <a:schemeClr val="tx1"/>
              </a:solidFill>
            </a:rPr>
            <a:t>Model loaded using pickle file in Streamlit backend</a:t>
          </a:r>
          <a:endParaRPr lang="en-PK" sz="1150" kern="1200" dirty="0">
            <a:solidFill>
              <a:schemeClr val="tx1"/>
            </a:solidFill>
          </a:endParaRPr>
        </a:p>
      </dsp:txBody>
      <dsp:txXfrm>
        <a:off x="768134" y="70030"/>
        <a:ext cx="1252629" cy="849226"/>
      </dsp:txXfrm>
    </dsp:sp>
    <dsp:sp modelId="{AF17A97F-DA4F-4596-9565-779A39DC1974}">
      <dsp:nvSpPr>
        <dsp:cNvPr id="0" name=""/>
        <dsp:cNvSpPr/>
      </dsp:nvSpPr>
      <dsp:spPr>
        <a:xfrm>
          <a:off x="2066713" y="113838"/>
          <a:ext cx="977882" cy="760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PK" sz="900" kern="1200" dirty="0"/>
        </a:p>
      </dsp:txBody>
      <dsp:txXfrm>
        <a:off x="2066713" y="113838"/>
        <a:ext cx="977882" cy="760660"/>
      </dsp:txXfrm>
    </dsp:sp>
    <dsp:sp modelId="{6E78018A-07A1-4D81-A2A6-58BC1E5BB593}">
      <dsp:nvSpPr>
        <dsp:cNvPr id="0" name=""/>
        <dsp:cNvSpPr/>
      </dsp:nvSpPr>
      <dsp:spPr>
        <a:xfrm rot="5400000">
          <a:off x="2048547" y="1966644"/>
          <a:ext cx="798693" cy="90928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25000"/>
              <a:lumOff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63E0B-8728-4651-866B-C6F20B52B78C}">
      <dsp:nvSpPr>
        <dsp:cNvPr id="0" name=""/>
        <dsp:cNvSpPr/>
      </dsp:nvSpPr>
      <dsp:spPr>
        <a:xfrm>
          <a:off x="1836941" y="1081276"/>
          <a:ext cx="1344529" cy="941126"/>
        </a:xfrm>
        <a:prstGeom prst="roundRect">
          <a:avLst>
            <a:gd name="adj" fmla="val 16670"/>
          </a:avLst>
        </a:prstGeom>
        <a:solidFill>
          <a:schemeClr val="bg2">
            <a:lumMod val="9500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 dirty="0">
              <a:solidFill>
                <a:schemeClr val="tx1"/>
              </a:solidFill>
            </a:rPr>
            <a:t>Real-time prediction using user input form</a:t>
          </a:r>
          <a:endParaRPr lang="en-PK" sz="1150" kern="1200" dirty="0">
            <a:solidFill>
              <a:schemeClr val="tx1"/>
            </a:solidFill>
          </a:endParaRPr>
        </a:p>
      </dsp:txBody>
      <dsp:txXfrm>
        <a:off x="1882891" y="1127226"/>
        <a:ext cx="1252629" cy="849226"/>
      </dsp:txXfrm>
    </dsp:sp>
    <dsp:sp modelId="{39EFD8F2-FE6C-48AC-A7BB-BD05D2623D6A}">
      <dsp:nvSpPr>
        <dsp:cNvPr id="0" name=""/>
        <dsp:cNvSpPr/>
      </dsp:nvSpPr>
      <dsp:spPr>
        <a:xfrm>
          <a:off x="3181471" y="1171034"/>
          <a:ext cx="977882" cy="760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PK" sz="900" kern="1200" dirty="0"/>
        </a:p>
      </dsp:txBody>
      <dsp:txXfrm>
        <a:off x="3181471" y="1171034"/>
        <a:ext cx="977882" cy="760660"/>
      </dsp:txXfrm>
    </dsp:sp>
    <dsp:sp modelId="{6B5829D5-0619-48B9-B0E2-5AD373F8213A}">
      <dsp:nvSpPr>
        <dsp:cNvPr id="0" name=""/>
        <dsp:cNvSpPr/>
      </dsp:nvSpPr>
      <dsp:spPr>
        <a:xfrm rot="5400000">
          <a:off x="3163304" y="3023840"/>
          <a:ext cx="798693" cy="90928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25000"/>
              <a:lumOff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97A03-2410-4C46-9546-3122066BF986}">
      <dsp:nvSpPr>
        <dsp:cNvPr id="0" name=""/>
        <dsp:cNvSpPr/>
      </dsp:nvSpPr>
      <dsp:spPr>
        <a:xfrm>
          <a:off x="2951699" y="2138473"/>
          <a:ext cx="1344529" cy="941126"/>
        </a:xfrm>
        <a:prstGeom prst="roundRect">
          <a:avLst>
            <a:gd name="adj" fmla="val 16670"/>
          </a:avLst>
        </a:prstGeom>
        <a:solidFill>
          <a:schemeClr val="bg2">
            <a:lumMod val="9500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solidFill>
                <a:schemeClr val="tx1"/>
              </a:solidFill>
            </a:rPr>
            <a:t>Streamlit UI collects inputs, sends features to model, and returns annual estimates</a:t>
          </a:r>
          <a:r>
            <a:rPr lang="en-US" sz="1000" b="0" kern="1200" dirty="0">
              <a:solidFill>
                <a:schemeClr val="tx1"/>
              </a:solidFill>
            </a:rPr>
            <a:t>. </a:t>
          </a:r>
          <a:endParaRPr lang="en-US" sz="1000" b="0" u="none" strike="noStrike" kern="1200" dirty="0">
            <a:solidFill>
              <a:schemeClr val="tx1"/>
            </a:solidFill>
            <a:effectLst/>
            <a:uFillTx/>
            <a:latin typeface="OpenSymbol"/>
          </a:endParaRPr>
        </a:p>
      </dsp:txBody>
      <dsp:txXfrm>
        <a:off x="2997649" y="2184423"/>
        <a:ext cx="1252629" cy="849226"/>
      </dsp:txXfrm>
    </dsp:sp>
    <dsp:sp modelId="{628342C9-2B08-4ED1-A922-FF5FC13FE77F}">
      <dsp:nvSpPr>
        <dsp:cNvPr id="0" name=""/>
        <dsp:cNvSpPr/>
      </dsp:nvSpPr>
      <dsp:spPr>
        <a:xfrm>
          <a:off x="4296229" y="2228230"/>
          <a:ext cx="977882" cy="760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33AFB6-2657-4623-A661-3C1CEBCABFFA}">
      <dsp:nvSpPr>
        <dsp:cNvPr id="0" name=""/>
        <dsp:cNvSpPr/>
      </dsp:nvSpPr>
      <dsp:spPr>
        <a:xfrm>
          <a:off x="4066457" y="3195669"/>
          <a:ext cx="1344529" cy="941126"/>
        </a:xfrm>
        <a:prstGeom prst="roundRect">
          <a:avLst>
            <a:gd name="adj" fmla="val 16670"/>
          </a:avLst>
        </a:prstGeom>
        <a:solidFill>
          <a:schemeClr val="bg2">
            <a:lumMod val="9500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strike="noStrike" kern="1200" dirty="0">
              <a:solidFill>
                <a:schemeClr val="tx1"/>
              </a:solidFill>
              <a:effectLst/>
              <a:uFillTx/>
              <a:latin typeface="arial"/>
            </a:rPr>
            <a:t>Design: clean form layout, result panel, and downloadable report. </a:t>
          </a:r>
          <a:endParaRPr lang="en-US" sz="1100" b="0" u="none" strike="noStrike" kern="1200" dirty="0">
            <a:solidFill>
              <a:schemeClr val="tx1"/>
            </a:solidFill>
            <a:effectLst/>
            <a:uFillTx/>
            <a:latin typeface="OpenSymbol"/>
          </a:endParaRPr>
        </a:p>
      </dsp:txBody>
      <dsp:txXfrm>
        <a:off x="4112407" y="3241619"/>
        <a:ext cx="1252629" cy="8492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BA2A9-0A74-43AB-926F-CAD2BF3C2ACA}">
      <dsp:nvSpPr>
        <dsp:cNvPr id="0" name=""/>
        <dsp:cNvSpPr/>
      </dsp:nvSpPr>
      <dsp:spPr>
        <a:xfrm>
          <a:off x="0" y="26680"/>
          <a:ext cx="5241072" cy="879840"/>
        </a:xfrm>
        <a:prstGeom prst="roundRect">
          <a:avLst/>
        </a:prstGeom>
        <a:solidFill>
          <a:schemeClr val="tx1">
            <a:lumMod val="25000"/>
            <a:lumOff val="7500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i="1" kern="1200" dirty="0">
              <a:solidFill>
                <a:schemeClr val="tx1"/>
              </a:solidFill>
            </a:rPr>
            <a:t>Risk Factors</a:t>
          </a:r>
          <a:endParaRPr lang="en-PK" sz="2300" i="1" kern="1200" dirty="0">
            <a:solidFill>
              <a:schemeClr val="tx1"/>
            </a:solidFill>
          </a:endParaRPr>
        </a:p>
      </dsp:txBody>
      <dsp:txXfrm>
        <a:off x="42950" y="69630"/>
        <a:ext cx="5155172" cy="793940"/>
      </dsp:txXfrm>
    </dsp:sp>
    <dsp:sp modelId="{204C5CA9-9C63-4913-BA72-7D72AFF91595}">
      <dsp:nvSpPr>
        <dsp:cNvPr id="0" name=""/>
        <dsp:cNvSpPr/>
      </dsp:nvSpPr>
      <dsp:spPr>
        <a:xfrm>
          <a:off x="0" y="906520"/>
          <a:ext cx="5241072" cy="778320"/>
        </a:xfrm>
        <a:prstGeom prst="rect">
          <a:avLst/>
        </a:prstGeom>
        <a:solidFill>
          <a:schemeClr val="bg2">
            <a:lumMod val="85000"/>
          </a:schemeClr>
        </a:solidFill>
        <a:ln w="28575">
          <a:solidFill>
            <a:srgbClr val="00206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0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v"/>
          </a:pPr>
          <a:r>
            <a:rPr lang="en-US" sz="1800" b="0" u="none" strike="noStrike" kern="1200" dirty="0">
              <a:solidFill>
                <a:schemeClr val="dk1"/>
              </a:solidFill>
              <a:effectLst/>
              <a:uFillTx/>
              <a:latin typeface="arial"/>
            </a:rPr>
            <a:t>System flags high-risk factors (smoking, high BMI, comorbidities) and highlights their contribution to cost. </a:t>
          </a:r>
          <a:endParaRPr lang="en-PK" sz="1800" kern="1200" dirty="0"/>
        </a:p>
      </dsp:txBody>
      <dsp:txXfrm>
        <a:off x="0" y="906520"/>
        <a:ext cx="5241072" cy="778320"/>
      </dsp:txXfrm>
    </dsp:sp>
    <dsp:sp modelId="{769F62FB-6553-49B3-8D31-917694876CF6}">
      <dsp:nvSpPr>
        <dsp:cNvPr id="0" name=""/>
        <dsp:cNvSpPr/>
      </dsp:nvSpPr>
      <dsp:spPr>
        <a:xfrm>
          <a:off x="0" y="1684841"/>
          <a:ext cx="5241072" cy="879840"/>
        </a:xfrm>
        <a:prstGeom prst="roundRect">
          <a:avLst/>
        </a:prstGeom>
        <a:solidFill>
          <a:schemeClr val="tx1">
            <a:lumMod val="25000"/>
            <a:lumOff val="7500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1" kern="1200" dirty="0">
              <a:solidFill>
                <a:schemeClr val="tx1"/>
              </a:solidFill>
            </a:rPr>
            <a:t>Feedback &amp; Disclaimer</a:t>
          </a:r>
          <a:endParaRPr lang="en-PK" sz="2300" b="0" i="1" kern="1200" dirty="0">
            <a:solidFill>
              <a:schemeClr val="tx1"/>
            </a:solidFill>
          </a:endParaRPr>
        </a:p>
      </dsp:txBody>
      <dsp:txXfrm>
        <a:off x="42950" y="1727791"/>
        <a:ext cx="5155172" cy="793940"/>
      </dsp:txXfrm>
    </dsp:sp>
    <dsp:sp modelId="{3E097A28-A830-4985-830F-0F5E61961301}">
      <dsp:nvSpPr>
        <dsp:cNvPr id="0" name=""/>
        <dsp:cNvSpPr/>
      </dsp:nvSpPr>
      <dsp:spPr>
        <a:xfrm>
          <a:off x="0" y="2564680"/>
          <a:ext cx="5241072" cy="778320"/>
        </a:xfrm>
        <a:prstGeom prst="rect">
          <a:avLst/>
        </a:prstGeom>
        <a:solidFill>
          <a:schemeClr val="bg2">
            <a:lumMod val="85000"/>
          </a:schemeClr>
        </a:solidFill>
        <a:ln w="28575">
          <a:solidFill>
            <a:srgbClr val="00206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0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v"/>
          </a:pPr>
          <a:r>
            <a:rPr lang="en-US" sz="1800" b="0" u="none" strike="noStrike" kern="1200" dirty="0">
              <a:solidFill>
                <a:schemeClr val="dk1"/>
              </a:solidFill>
              <a:effectLst/>
              <a:uFillTx/>
              <a:latin typeface="arial"/>
            </a:rPr>
            <a:t>Provide actionable feedback and disclaimers; option to export recommendations.</a:t>
          </a:r>
          <a:endParaRPr lang="en-PK" sz="1800" kern="1200" dirty="0"/>
        </a:p>
      </dsp:txBody>
      <dsp:txXfrm>
        <a:off x="0" y="2564680"/>
        <a:ext cx="5241072" cy="778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4960" y="1012320"/>
            <a:ext cx="625068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Google Shape;12;p2"/>
          <p:cNvSpPr/>
          <p:nvPr/>
        </p:nvSpPr>
        <p:spPr>
          <a:xfrm>
            <a:off x="0" y="4608360"/>
            <a:ext cx="9143640" cy="5349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" name="Google Shape;13;p2"/>
          <p:cNvGrpSpPr/>
          <p:nvPr/>
        </p:nvGrpSpPr>
        <p:grpSpPr>
          <a:xfrm>
            <a:off x="8800200" y="-8280"/>
            <a:ext cx="0" cy="5151600"/>
            <a:chOff x="8800200" y="-8280"/>
            <a:chExt cx="0" cy="5151600"/>
          </a:xfrm>
        </p:grpSpPr>
        <p:cxnSp>
          <p:nvCxnSpPr>
            <p:cNvPr id="6" name="Google Shape;14;p2"/>
            <p:cNvCxnSpPr/>
            <p:nvPr/>
          </p:nvCxnSpPr>
          <p:spPr>
            <a:xfrm flipV="1">
              <a:off x="8800200" y="-8280"/>
              <a:ext cx="360" cy="461664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7" name="Google Shape;15;p2"/>
            <p:cNvCxnSpPr/>
            <p:nvPr/>
          </p:nvCxnSpPr>
          <p:spPr>
            <a:xfrm flipV="1">
              <a:off x="8800200" y="4608720"/>
              <a:ext cx="360" cy="5349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</p:grpSp>
      <p:grpSp>
        <p:nvGrpSpPr>
          <p:cNvPr id="8" name="Google Shape;16;p2"/>
          <p:cNvGrpSpPr/>
          <p:nvPr/>
        </p:nvGrpSpPr>
        <p:grpSpPr>
          <a:xfrm>
            <a:off x="321120" y="4733640"/>
            <a:ext cx="393480" cy="271440"/>
            <a:chOff x="321120" y="4733640"/>
            <a:chExt cx="393480" cy="271440"/>
          </a:xfrm>
        </p:grpSpPr>
        <p:sp>
          <p:nvSpPr>
            <p:cNvPr id="9" name="Google Shape;17;p2"/>
            <p:cNvSpPr/>
            <p:nvPr/>
          </p:nvSpPr>
          <p:spPr>
            <a:xfrm>
              <a:off x="321120" y="47336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8;p2"/>
            <p:cNvSpPr/>
            <p:nvPr/>
          </p:nvSpPr>
          <p:spPr>
            <a:xfrm>
              <a:off x="443160" y="47336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22;p13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720000" y="177948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title"/>
          </p:nvPr>
        </p:nvSpPr>
        <p:spPr>
          <a:xfrm>
            <a:off x="720000" y="321300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3419280" y="177948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title"/>
          </p:nvPr>
        </p:nvSpPr>
        <p:spPr>
          <a:xfrm>
            <a:off x="3419280" y="321300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title"/>
          </p:nvPr>
        </p:nvSpPr>
        <p:spPr>
          <a:xfrm>
            <a:off x="6118560" y="177948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title"/>
          </p:nvPr>
        </p:nvSpPr>
        <p:spPr>
          <a:xfrm>
            <a:off x="6118560" y="321300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36;p13"/>
          <p:cNvSpPr/>
          <p:nvPr/>
        </p:nvSpPr>
        <p:spPr>
          <a:xfrm>
            <a:off x="8429040" y="0"/>
            <a:ext cx="71496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0" name="Google Shape;137;p13"/>
          <p:cNvGrpSpPr/>
          <p:nvPr/>
        </p:nvGrpSpPr>
        <p:grpSpPr>
          <a:xfrm>
            <a:off x="8650800" y="4503240"/>
            <a:ext cx="271440" cy="393840"/>
            <a:chOff x="8650800" y="4503240"/>
            <a:chExt cx="271440" cy="393840"/>
          </a:xfrm>
        </p:grpSpPr>
        <p:sp>
          <p:nvSpPr>
            <p:cNvPr id="31" name="Google Shape;138;p13"/>
            <p:cNvSpPr/>
            <p:nvPr/>
          </p:nvSpPr>
          <p:spPr>
            <a:xfrm rot="5400000">
              <a:off x="8650800" y="45032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39;p13"/>
            <p:cNvSpPr/>
            <p:nvPr/>
          </p:nvSpPr>
          <p:spPr>
            <a:xfrm rot="5400000">
              <a:off x="8650800" y="46256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" name="Google Shape;140;p13"/>
          <p:cNvGrpSpPr/>
          <p:nvPr/>
        </p:nvGrpSpPr>
        <p:grpSpPr>
          <a:xfrm>
            <a:off x="0" y="-7920"/>
            <a:ext cx="9152280" cy="5153040"/>
            <a:chOff x="0" y="-7920"/>
            <a:chExt cx="9152280" cy="5153040"/>
          </a:xfrm>
        </p:grpSpPr>
        <p:cxnSp>
          <p:nvCxnSpPr>
            <p:cNvPr id="34" name="Google Shape;141;p13"/>
            <p:cNvCxnSpPr/>
            <p:nvPr/>
          </p:nvCxnSpPr>
          <p:spPr>
            <a:xfrm>
              <a:off x="0" y="251280"/>
              <a:ext cx="8445960" cy="36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35" name="Google Shape;142;p13"/>
            <p:cNvCxnSpPr/>
            <p:nvPr/>
          </p:nvCxnSpPr>
          <p:spPr>
            <a:xfrm>
              <a:off x="8427960" y="251280"/>
              <a:ext cx="724680" cy="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  <p:cxnSp>
          <p:nvCxnSpPr>
            <p:cNvPr id="36" name="Google Shape;143;p13"/>
            <p:cNvCxnSpPr/>
            <p:nvPr/>
          </p:nvCxnSpPr>
          <p:spPr>
            <a:xfrm flipV="1">
              <a:off x="343080" y="-7920"/>
              <a:ext cx="360" cy="515340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45;p14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Google Shape;146;p14"/>
          <p:cNvSpPr/>
          <p:nvPr/>
        </p:nvSpPr>
        <p:spPr>
          <a:xfrm>
            <a:off x="0" y="2395080"/>
            <a:ext cx="9143640" cy="2756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9" name="Google Shape;147;p14"/>
          <p:cNvGrpSpPr/>
          <p:nvPr/>
        </p:nvGrpSpPr>
        <p:grpSpPr>
          <a:xfrm>
            <a:off x="4375080" y="4739400"/>
            <a:ext cx="393480" cy="271440"/>
            <a:chOff x="4375080" y="4739400"/>
            <a:chExt cx="393480" cy="271440"/>
          </a:xfrm>
        </p:grpSpPr>
        <p:sp>
          <p:nvSpPr>
            <p:cNvPr id="40" name="Google Shape;148;p14"/>
            <p:cNvSpPr/>
            <p:nvPr/>
          </p:nvSpPr>
          <p:spPr>
            <a:xfrm>
              <a:off x="4375080" y="473940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49;p14"/>
            <p:cNvSpPr/>
            <p:nvPr/>
          </p:nvSpPr>
          <p:spPr>
            <a:xfrm>
              <a:off x="4497120" y="473940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" name="Google Shape;150;p14"/>
          <p:cNvGrpSpPr/>
          <p:nvPr/>
        </p:nvGrpSpPr>
        <p:grpSpPr>
          <a:xfrm>
            <a:off x="342360" y="0"/>
            <a:ext cx="0" cy="5151960"/>
            <a:chOff x="342360" y="0"/>
            <a:chExt cx="0" cy="5151960"/>
          </a:xfrm>
        </p:grpSpPr>
        <p:cxnSp>
          <p:nvCxnSpPr>
            <p:cNvPr id="43" name="Google Shape;151;p14"/>
            <p:cNvCxnSpPr/>
            <p:nvPr/>
          </p:nvCxnSpPr>
          <p:spPr>
            <a:xfrm flipV="1">
              <a:off x="342360" y="2399040"/>
              <a:ext cx="360" cy="275328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  <p:cxnSp>
          <p:nvCxnSpPr>
            <p:cNvPr id="44" name="Google Shape;152;p14"/>
            <p:cNvCxnSpPr/>
            <p:nvPr/>
          </p:nvCxnSpPr>
          <p:spPr>
            <a:xfrm flipV="1">
              <a:off x="342360" y="0"/>
              <a:ext cx="360" cy="240552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</p:grpSp>
      <p:cxnSp>
        <p:nvCxnSpPr>
          <p:cNvPr id="45" name="Google Shape;153;p14"/>
          <p:cNvCxnSpPr/>
          <p:nvPr/>
        </p:nvCxnSpPr>
        <p:spPr>
          <a:xfrm>
            <a:off x="-285840" y="533880"/>
            <a:ext cx="9896760" cy="360"/>
          </a:xfrm>
          <a:prstGeom prst="straightConnector1">
            <a:avLst/>
          </a:prstGeom>
          <a:ln w="9525">
            <a:solidFill>
              <a:srgbClr val="092F53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98480" y="274824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0" u="none" strike="noStrike">
                <a:solidFill>
                  <a:schemeClr val="lt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825640" y="10375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4853160" y="274824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0" u="none" strike="noStrike">
                <a:solidFill>
                  <a:schemeClr val="lt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78;p16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88120" y="1339920"/>
            <a:ext cx="3309480" cy="109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05800" y="820440"/>
            <a:ext cx="3249720" cy="35024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Google Shape;182;p16"/>
          <p:cNvSpPr/>
          <p:nvPr/>
        </p:nvSpPr>
        <p:spPr>
          <a:xfrm>
            <a:off x="0" y="-11880"/>
            <a:ext cx="9143640" cy="5464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8" name="Google Shape;183;p16"/>
          <p:cNvGrpSpPr/>
          <p:nvPr/>
        </p:nvGrpSpPr>
        <p:grpSpPr>
          <a:xfrm>
            <a:off x="342720" y="-14760"/>
            <a:ext cx="0" cy="5158080"/>
            <a:chOff x="342720" y="-14760"/>
            <a:chExt cx="0" cy="5158080"/>
          </a:xfrm>
        </p:grpSpPr>
        <p:cxnSp>
          <p:nvCxnSpPr>
            <p:cNvPr id="69" name="Google Shape;184;p16"/>
            <p:cNvCxnSpPr/>
            <p:nvPr/>
          </p:nvCxnSpPr>
          <p:spPr>
            <a:xfrm flipV="1">
              <a:off x="342720" y="533160"/>
              <a:ext cx="360" cy="461052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70" name="Google Shape;185;p16"/>
            <p:cNvCxnSpPr/>
            <p:nvPr/>
          </p:nvCxnSpPr>
          <p:spPr>
            <a:xfrm flipV="1">
              <a:off x="342720" y="-14760"/>
              <a:ext cx="360" cy="549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</p:grpSp>
      <p:grpSp>
        <p:nvGrpSpPr>
          <p:cNvPr id="71" name="Google Shape;186;p16"/>
          <p:cNvGrpSpPr/>
          <p:nvPr/>
        </p:nvGrpSpPr>
        <p:grpSpPr>
          <a:xfrm>
            <a:off x="8604000" y="123840"/>
            <a:ext cx="393480" cy="271440"/>
            <a:chOff x="8604000" y="123840"/>
            <a:chExt cx="393480" cy="271440"/>
          </a:xfrm>
        </p:grpSpPr>
        <p:sp>
          <p:nvSpPr>
            <p:cNvPr id="72" name="Google Shape;187;p16"/>
            <p:cNvSpPr/>
            <p:nvPr/>
          </p:nvSpPr>
          <p:spPr>
            <a:xfrm>
              <a:off x="8604000" y="1238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188;p16"/>
            <p:cNvSpPr/>
            <p:nvPr/>
          </p:nvSpPr>
          <p:spPr>
            <a:xfrm>
              <a:off x="8726040" y="1238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202;p18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" name="Google Shape;207;p18"/>
          <p:cNvSpPr/>
          <p:nvPr/>
        </p:nvSpPr>
        <p:spPr>
          <a:xfrm>
            <a:off x="8429040" y="0"/>
            <a:ext cx="71496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8" name="Google Shape;208;p18"/>
          <p:cNvGrpSpPr/>
          <p:nvPr/>
        </p:nvGrpSpPr>
        <p:grpSpPr>
          <a:xfrm>
            <a:off x="8650800" y="4503240"/>
            <a:ext cx="271440" cy="393840"/>
            <a:chOff x="8650800" y="4503240"/>
            <a:chExt cx="271440" cy="393840"/>
          </a:xfrm>
        </p:grpSpPr>
        <p:sp>
          <p:nvSpPr>
            <p:cNvPr id="89" name="Google Shape;209;p18"/>
            <p:cNvSpPr/>
            <p:nvPr/>
          </p:nvSpPr>
          <p:spPr>
            <a:xfrm rot="5400000">
              <a:off x="8650800" y="45032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10;p18"/>
            <p:cNvSpPr/>
            <p:nvPr/>
          </p:nvSpPr>
          <p:spPr>
            <a:xfrm rot="5400000">
              <a:off x="8650800" y="46256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" name="Google Shape;211;p18"/>
          <p:cNvGrpSpPr/>
          <p:nvPr/>
        </p:nvGrpSpPr>
        <p:grpSpPr>
          <a:xfrm>
            <a:off x="0" y="-7920"/>
            <a:ext cx="9152280" cy="5153040"/>
            <a:chOff x="0" y="-7920"/>
            <a:chExt cx="9152280" cy="5153040"/>
          </a:xfrm>
        </p:grpSpPr>
        <p:cxnSp>
          <p:nvCxnSpPr>
            <p:cNvPr id="92" name="Google Shape;212;p18"/>
            <p:cNvCxnSpPr/>
            <p:nvPr/>
          </p:nvCxnSpPr>
          <p:spPr>
            <a:xfrm>
              <a:off x="0" y="251280"/>
              <a:ext cx="8445960" cy="36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93" name="Google Shape;213;p18"/>
            <p:cNvCxnSpPr/>
            <p:nvPr/>
          </p:nvCxnSpPr>
          <p:spPr>
            <a:xfrm>
              <a:off x="8427960" y="251280"/>
              <a:ext cx="724680" cy="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  <p:cxnSp>
          <p:nvCxnSpPr>
            <p:cNvPr id="94" name="Google Shape;214;p18"/>
            <p:cNvCxnSpPr/>
            <p:nvPr/>
          </p:nvCxnSpPr>
          <p:spPr>
            <a:xfrm flipV="1">
              <a:off x="343080" y="-7920"/>
              <a:ext cx="360" cy="515340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0;p3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21;p3"/>
          <p:cNvSpPr/>
          <p:nvPr/>
        </p:nvSpPr>
        <p:spPr>
          <a:xfrm>
            <a:off x="0" y="1478880"/>
            <a:ext cx="9143640" cy="3665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22;p3"/>
          <p:cNvGrpSpPr/>
          <p:nvPr/>
        </p:nvGrpSpPr>
        <p:grpSpPr>
          <a:xfrm>
            <a:off x="321120" y="4739400"/>
            <a:ext cx="393480" cy="271440"/>
            <a:chOff x="321120" y="4739400"/>
            <a:chExt cx="393480" cy="271440"/>
          </a:xfrm>
        </p:grpSpPr>
        <p:sp>
          <p:nvSpPr>
            <p:cNvPr id="120" name="Google Shape;23;p3"/>
            <p:cNvSpPr/>
            <p:nvPr/>
          </p:nvSpPr>
          <p:spPr>
            <a:xfrm>
              <a:off x="321120" y="473940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4;p3"/>
            <p:cNvSpPr/>
            <p:nvPr/>
          </p:nvSpPr>
          <p:spPr>
            <a:xfrm>
              <a:off x="443160" y="473940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2" name="Google Shape;25;p3"/>
          <p:cNvGrpSpPr/>
          <p:nvPr/>
        </p:nvGrpSpPr>
        <p:grpSpPr>
          <a:xfrm>
            <a:off x="8800920" y="0"/>
            <a:ext cx="0" cy="5151960"/>
            <a:chOff x="8800920" y="0"/>
            <a:chExt cx="0" cy="5151960"/>
          </a:xfrm>
        </p:grpSpPr>
        <p:cxnSp>
          <p:nvCxnSpPr>
            <p:cNvPr id="123" name="Google Shape;26;p3"/>
            <p:cNvCxnSpPr/>
            <p:nvPr/>
          </p:nvCxnSpPr>
          <p:spPr>
            <a:xfrm flipV="1">
              <a:off x="8800920" y="1477440"/>
              <a:ext cx="360" cy="367488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  <p:cxnSp>
          <p:nvCxnSpPr>
            <p:cNvPr id="124" name="Google Shape;27;p3"/>
            <p:cNvCxnSpPr/>
            <p:nvPr/>
          </p:nvCxnSpPr>
          <p:spPr>
            <a:xfrm flipV="1">
              <a:off x="8800920" y="0"/>
              <a:ext cx="360" cy="147924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</p:grp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485240" y="1809000"/>
            <a:ext cx="3943080" cy="98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714960" y="534960"/>
            <a:ext cx="1117080" cy="94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310;p25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Google Shape;311;p25"/>
          <p:cNvSpPr/>
          <p:nvPr/>
        </p:nvSpPr>
        <p:spPr>
          <a:xfrm>
            <a:off x="0" y="-11880"/>
            <a:ext cx="9143640" cy="5464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9" name="Google Shape;312;p25"/>
          <p:cNvGrpSpPr/>
          <p:nvPr/>
        </p:nvGrpSpPr>
        <p:grpSpPr>
          <a:xfrm>
            <a:off x="0" y="-14760"/>
            <a:ext cx="9151560" cy="5158080"/>
            <a:chOff x="0" y="-14760"/>
            <a:chExt cx="9151560" cy="5158080"/>
          </a:xfrm>
        </p:grpSpPr>
        <p:cxnSp>
          <p:nvCxnSpPr>
            <p:cNvPr id="170" name="Google Shape;313;p25"/>
            <p:cNvCxnSpPr/>
            <p:nvPr/>
          </p:nvCxnSpPr>
          <p:spPr>
            <a:xfrm>
              <a:off x="0" y="4897440"/>
              <a:ext cx="9151920" cy="36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171" name="Google Shape;314;p25"/>
            <p:cNvCxnSpPr/>
            <p:nvPr/>
          </p:nvCxnSpPr>
          <p:spPr>
            <a:xfrm flipV="1">
              <a:off x="342720" y="533160"/>
              <a:ext cx="360" cy="461052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172" name="Google Shape;315;p25"/>
            <p:cNvCxnSpPr/>
            <p:nvPr/>
          </p:nvCxnSpPr>
          <p:spPr>
            <a:xfrm flipV="1">
              <a:off x="342720" y="-14760"/>
              <a:ext cx="360" cy="549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</p:grpSp>
      <p:grpSp>
        <p:nvGrpSpPr>
          <p:cNvPr id="173" name="Google Shape;316;p25"/>
          <p:cNvGrpSpPr/>
          <p:nvPr/>
        </p:nvGrpSpPr>
        <p:grpSpPr>
          <a:xfrm>
            <a:off x="8604000" y="123840"/>
            <a:ext cx="393480" cy="271440"/>
            <a:chOff x="8604000" y="123840"/>
            <a:chExt cx="393480" cy="271440"/>
          </a:xfrm>
        </p:grpSpPr>
        <p:sp>
          <p:nvSpPr>
            <p:cNvPr id="174" name="Google Shape;317;p25"/>
            <p:cNvSpPr/>
            <p:nvPr/>
          </p:nvSpPr>
          <p:spPr>
            <a:xfrm>
              <a:off x="8604000" y="1238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318;p25"/>
            <p:cNvSpPr/>
            <p:nvPr/>
          </p:nvSpPr>
          <p:spPr>
            <a:xfrm>
              <a:off x="8726040" y="1238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320;p26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Google Shape;321;p26"/>
          <p:cNvSpPr/>
          <p:nvPr/>
        </p:nvSpPr>
        <p:spPr>
          <a:xfrm>
            <a:off x="8429040" y="0"/>
            <a:ext cx="71496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78" name="Google Shape;322;p26"/>
          <p:cNvGrpSpPr/>
          <p:nvPr/>
        </p:nvGrpSpPr>
        <p:grpSpPr>
          <a:xfrm>
            <a:off x="8650800" y="4503240"/>
            <a:ext cx="271440" cy="393840"/>
            <a:chOff x="8650800" y="4503240"/>
            <a:chExt cx="271440" cy="393840"/>
          </a:xfrm>
        </p:grpSpPr>
        <p:sp>
          <p:nvSpPr>
            <p:cNvPr id="179" name="Google Shape;323;p26"/>
            <p:cNvSpPr/>
            <p:nvPr/>
          </p:nvSpPr>
          <p:spPr>
            <a:xfrm rot="5400000">
              <a:off x="8650800" y="45032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324;p26"/>
            <p:cNvSpPr/>
            <p:nvPr/>
          </p:nvSpPr>
          <p:spPr>
            <a:xfrm rot="5400000">
              <a:off x="8650800" y="46256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1" name="Google Shape;325;p26"/>
          <p:cNvGrpSpPr/>
          <p:nvPr/>
        </p:nvGrpSpPr>
        <p:grpSpPr>
          <a:xfrm>
            <a:off x="0" y="-7920"/>
            <a:ext cx="9152280" cy="5153040"/>
            <a:chOff x="0" y="-7920"/>
            <a:chExt cx="9152280" cy="5153040"/>
          </a:xfrm>
        </p:grpSpPr>
        <p:cxnSp>
          <p:nvCxnSpPr>
            <p:cNvPr id="182" name="Google Shape;326;p26"/>
            <p:cNvCxnSpPr/>
            <p:nvPr/>
          </p:nvCxnSpPr>
          <p:spPr>
            <a:xfrm>
              <a:off x="0" y="251280"/>
              <a:ext cx="8445960" cy="36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183" name="Google Shape;327;p26"/>
            <p:cNvCxnSpPr/>
            <p:nvPr/>
          </p:nvCxnSpPr>
          <p:spPr>
            <a:xfrm>
              <a:off x="8427960" y="251280"/>
              <a:ext cx="724680" cy="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  <p:cxnSp>
          <p:nvCxnSpPr>
            <p:cNvPr id="184" name="Google Shape;328;p26"/>
            <p:cNvCxnSpPr/>
            <p:nvPr/>
          </p:nvCxnSpPr>
          <p:spPr>
            <a:xfrm flipV="1">
              <a:off x="343080" y="-7920"/>
              <a:ext cx="360" cy="515340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31;p4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8" name="Google Shape;34;p4"/>
          <p:cNvSpPr/>
          <p:nvPr/>
        </p:nvSpPr>
        <p:spPr>
          <a:xfrm>
            <a:off x="8429040" y="0"/>
            <a:ext cx="71496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9" name="Google Shape;35;p4"/>
          <p:cNvGrpSpPr/>
          <p:nvPr/>
        </p:nvGrpSpPr>
        <p:grpSpPr>
          <a:xfrm>
            <a:off x="8650800" y="4503240"/>
            <a:ext cx="271440" cy="393840"/>
            <a:chOff x="8650800" y="4503240"/>
            <a:chExt cx="271440" cy="393840"/>
          </a:xfrm>
        </p:grpSpPr>
        <p:sp>
          <p:nvSpPr>
            <p:cNvPr id="190" name="Google Shape;36;p4"/>
            <p:cNvSpPr/>
            <p:nvPr/>
          </p:nvSpPr>
          <p:spPr>
            <a:xfrm rot="5400000">
              <a:off x="8650800" y="45032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37;p4"/>
            <p:cNvSpPr/>
            <p:nvPr/>
          </p:nvSpPr>
          <p:spPr>
            <a:xfrm rot="5400000">
              <a:off x="8650800" y="46256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2" name="Google Shape;38;p4"/>
          <p:cNvGrpSpPr/>
          <p:nvPr/>
        </p:nvGrpSpPr>
        <p:grpSpPr>
          <a:xfrm>
            <a:off x="0" y="-7920"/>
            <a:ext cx="9152280" cy="5153040"/>
            <a:chOff x="0" y="-7920"/>
            <a:chExt cx="9152280" cy="5153040"/>
          </a:xfrm>
        </p:grpSpPr>
        <p:cxnSp>
          <p:nvCxnSpPr>
            <p:cNvPr id="193" name="Google Shape;39;p4"/>
            <p:cNvCxnSpPr/>
            <p:nvPr/>
          </p:nvCxnSpPr>
          <p:spPr>
            <a:xfrm>
              <a:off x="0" y="251280"/>
              <a:ext cx="8445960" cy="36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194" name="Google Shape;40;p4"/>
            <p:cNvCxnSpPr/>
            <p:nvPr/>
          </p:nvCxnSpPr>
          <p:spPr>
            <a:xfrm>
              <a:off x="8427960" y="251280"/>
              <a:ext cx="724680" cy="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  <p:cxnSp>
          <p:nvCxnSpPr>
            <p:cNvPr id="195" name="Google Shape;41;p4"/>
            <p:cNvCxnSpPr/>
            <p:nvPr/>
          </p:nvCxnSpPr>
          <p:spPr>
            <a:xfrm flipV="1">
              <a:off x="343080" y="-7920"/>
              <a:ext cx="360" cy="515340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58;p6"/>
          <p:cNvPicPr/>
          <p:nvPr/>
        </p:nvPicPr>
        <p:blipFill>
          <a:blip r:embed="rId2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Google Shape;59;p6"/>
          <p:cNvSpPr/>
          <p:nvPr/>
        </p:nvSpPr>
        <p:spPr>
          <a:xfrm>
            <a:off x="0" y="-11880"/>
            <a:ext cx="9143640" cy="5464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08" name="Google Shape;60;p6"/>
          <p:cNvGrpSpPr/>
          <p:nvPr/>
        </p:nvGrpSpPr>
        <p:grpSpPr>
          <a:xfrm>
            <a:off x="0" y="-14760"/>
            <a:ext cx="9151560" cy="5158080"/>
            <a:chOff x="0" y="-14760"/>
            <a:chExt cx="9151560" cy="5158080"/>
          </a:xfrm>
        </p:grpSpPr>
        <p:cxnSp>
          <p:nvCxnSpPr>
            <p:cNvPr id="209" name="Google Shape;61;p6"/>
            <p:cNvCxnSpPr/>
            <p:nvPr/>
          </p:nvCxnSpPr>
          <p:spPr>
            <a:xfrm>
              <a:off x="0" y="4897440"/>
              <a:ext cx="9151920" cy="36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210" name="Google Shape;62;p6"/>
            <p:cNvCxnSpPr/>
            <p:nvPr/>
          </p:nvCxnSpPr>
          <p:spPr>
            <a:xfrm flipV="1">
              <a:off x="342720" y="533160"/>
              <a:ext cx="360" cy="461052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211" name="Google Shape;63;p6"/>
            <p:cNvCxnSpPr/>
            <p:nvPr/>
          </p:nvCxnSpPr>
          <p:spPr>
            <a:xfrm flipV="1">
              <a:off x="342720" y="-14760"/>
              <a:ext cx="360" cy="54936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</p:grpSp>
      <p:grpSp>
        <p:nvGrpSpPr>
          <p:cNvPr id="212" name="Google Shape;64;p6"/>
          <p:cNvGrpSpPr/>
          <p:nvPr/>
        </p:nvGrpSpPr>
        <p:grpSpPr>
          <a:xfrm>
            <a:off x="8604000" y="123840"/>
            <a:ext cx="393480" cy="271440"/>
            <a:chOff x="8604000" y="123840"/>
            <a:chExt cx="393480" cy="271440"/>
          </a:xfrm>
        </p:grpSpPr>
        <p:sp>
          <p:nvSpPr>
            <p:cNvPr id="213" name="Google Shape;65;p6"/>
            <p:cNvSpPr/>
            <p:nvPr/>
          </p:nvSpPr>
          <p:spPr>
            <a:xfrm>
              <a:off x="8604000" y="1238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66;p6"/>
            <p:cNvSpPr/>
            <p:nvPr/>
          </p:nvSpPr>
          <p:spPr>
            <a:xfrm>
              <a:off x="8726040" y="12384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10;p11"/>
          <p:cNvPicPr/>
          <p:nvPr/>
        </p:nvPicPr>
        <p:blipFill>
          <a:blip r:embed="rId3">
            <a:alphaModFix amt="1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Google Shape;111;p11"/>
          <p:cNvSpPr/>
          <p:nvPr/>
        </p:nvSpPr>
        <p:spPr>
          <a:xfrm>
            <a:off x="0" y="0"/>
            <a:ext cx="9143640" cy="3980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112;p11"/>
          <p:cNvGrpSpPr/>
          <p:nvPr/>
        </p:nvGrpSpPr>
        <p:grpSpPr>
          <a:xfrm>
            <a:off x="207360" y="1910880"/>
            <a:ext cx="271440" cy="393840"/>
            <a:chOff x="207360" y="1910880"/>
            <a:chExt cx="271440" cy="393840"/>
          </a:xfrm>
        </p:grpSpPr>
        <p:sp>
          <p:nvSpPr>
            <p:cNvPr id="15" name="Google Shape;113;p11"/>
            <p:cNvSpPr/>
            <p:nvPr/>
          </p:nvSpPr>
          <p:spPr>
            <a:xfrm rot="5400000">
              <a:off x="207360" y="191088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14;p11"/>
            <p:cNvSpPr/>
            <p:nvPr/>
          </p:nvSpPr>
          <p:spPr>
            <a:xfrm rot="5400000">
              <a:off x="207360" y="2033280"/>
              <a:ext cx="271440" cy="271440"/>
            </a:xfrm>
            <a:prstGeom prst="ellipse">
              <a:avLst/>
            </a:prstGeom>
            <a:noFill/>
            <a:ln w="9525">
              <a:solidFill>
                <a:srgbClr val="EBEBE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" name="Google Shape;115;p11"/>
          <p:cNvGrpSpPr/>
          <p:nvPr/>
        </p:nvGrpSpPr>
        <p:grpSpPr>
          <a:xfrm>
            <a:off x="8800200" y="0"/>
            <a:ext cx="720" cy="5151960"/>
            <a:chOff x="8800200" y="0"/>
            <a:chExt cx="720" cy="5151960"/>
          </a:xfrm>
        </p:grpSpPr>
        <p:cxnSp>
          <p:nvCxnSpPr>
            <p:cNvPr id="18" name="Google Shape;116;p11"/>
            <p:cNvCxnSpPr/>
            <p:nvPr/>
          </p:nvCxnSpPr>
          <p:spPr>
            <a:xfrm flipH="1" flipV="1">
              <a:off x="8800200" y="3979800"/>
              <a:ext cx="1080" cy="1172520"/>
            </a:xfrm>
            <a:prstGeom prst="straightConnector1">
              <a:avLst/>
            </a:prstGeom>
            <a:ln w="9525">
              <a:solidFill>
                <a:srgbClr val="092F53"/>
              </a:solidFill>
              <a:round/>
            </a:ln>
          </p:spPr>
        </p:cxnSp>
        <p:cxnSp>
          <p:nvCxnSpPr>
            <p:cNvPr id="19" name="Google Shape;117;p11"/>
            <p:cNvCxnSpPr/>
            <p:nvPr/>
          </p:nvCxnSpPr>
          <p:spPr>
            <a:xfrm flipV="1">
              <a:off x="8800920" y="0"/>
              <a:ext cx="360" cy="3978720"/>
            </a:xfrm>
            <a:prstGeom prst="straightConnector1">
              <a:avLst/>
            </a:prstGeom>
            <a:ln w="9525">
              <a:solidFill>
                <a:srgbClr val="EBEBEB"/>
              </a:solidFill>
              <a:round/>
            </a:ln>
          </p:spPr>
        </p:cxn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661040" y="1484280"/>
            <a:ext cx="5821920" cy="12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200" b="0" u="none" strike="noStrike">
                <a:solidFill>
                  <a:schemeClr val="lt1"/>
                </a:solidFill>
                <a:effectLst/>
                <a:uFillTx/>
                <a:latin typeface="DM Serif Text"/>
                <a:ea typeface="DM Serif Text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339;p30"/>
          <p:cNvCxnSpPr/>
          <p:nvPr/>
        </p:nvCxnSpPr>
        <p:spPr>
          <a:xfrm>
            <a:off x="-285840" y="3152160"/>
            <a:ext cx="9896760" cy="360"/>
          </a:xfrm>
          <a:prstGeom prst="straightConnector1">
            <a:avLst/>
          </a:prstGeom>
          <a:ln w="9525">
            <a:solidFill>
              <a:srgbClr val="092F53"/>
            </a:solidFill>
            <a:round/>
          </a:ln>
        </p:spPr>
      </p:cxn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14240" y="1009800"/>
            <a:ext cx="62481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Medical Cost Prediction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subTitle"/>
          </p:nvPr>
        </p:nvSpPr>
        <p:spPr>
          <a:xfrm>
            <a:off x="4572000" y="3724200"/>
            <a:ext cx="3857400" cy="4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Machine learning model and Streamlit app for estimating annual healthcare expenses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25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Introduction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476280" y="1190790"/>
            <a:ext cx="8191080" cy="25242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50" b="1" i="1" dirty="0">
                <a:solidFill>
                  <a:schemeClr val="dk1"/>
                </a:solidFill>
                <a:latin typeface="+mj-lt"/>
              </a:rPr>
              <a:t>Medical Insurance Cost Prediction System</a:t>
            </a:r>
            <a:endParaRPr lang="en-US" sz="1250" b="1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ial"/>
              </a:rPr>
              <a:t>H</a:t>
            </a:r>
            <a:r>
              <a:rPr lang="en-US" sz="1200" dirty="0"/>
              <a:t>elps individuals estimate future healthcare expenses based on personal health and usage patterns.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200" dirty="0"/>
              <a:t>Unlike static estimates, this model adapts predictions based on multiple interacting risk factors.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This project uses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Gradient Boosting Regressor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to generate accurate cost forecasts and a Streamlit UI for user interaction.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E4A8B61A-721D-96A8-8E69-76D84B42CFC6}"/>
              </a:ext>
            </a:extLst>
          </p:cNvPr>
          <p:cNvSpPr/>
          <p:nvPr/>
        </p:nvSpPr>
        <p:spPr>
          <a:xfrm>
            <a:off x="5910146" y="4155687"/>
            <a:ext cx="2973659" cy="564995"/>
          </a:xfrm>
          <a:prstGeom prst="round2Diag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M Serif Text" pitchFamily="2" charset="0"/>
              </a:rPr>
              <a:t>SU92-BSAIM-S25-030</a:t>
            </a:r>
            <a:endParaRPr lang="en-PK" sz="1400" dirty="0">
              <a:latin typeface="DM Serif Tex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258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61" name="image69e41d53bc7cf" descr="image69e41d53bc7d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26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Project summary and goal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59D3F-D22B-7651-F056-DE4C5137C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80" y="1142455"/>
            <a:ext cx="780585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develops a machine learning system to predict annual medical costs based on individual health, lifestyle, and healthcare usage data. </a:t>
            </a:r>
            <a:endParaRPr kumimoji="0" lang="en-US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analyses multiple factors such as age, BMI, smoking habits, medical conditions, insurance details, and past healthcare expenses to generate cost estimates. </a:t>
            </a:r>
            <a:endParaRPr kumimoji="0" lang="en-US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Gradient Boosting Regressor is used to capture complex relationships between these variables and improve prediction accuracy. </a:t>
            </a:r>
            <a:endParaRPr kumimoji="0" lang="en-US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integrated into an interactive Streamlit web application that allows users to input their data and receive real-time predictions. </a:t>
            </a:r>
            <a:endParaRPr kumimoji="0" lang="en-US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addition to cost prediction, the system highlights key risk factors that may contribute to higher medical expenses.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B5105-7263-57DA-988A-0A96B0679463}"/>
              </a:ext>
            </a:extLst>
          </p:cNvPr>
          <p:cNvSpPr txBox="1"/>
          <p:nvPr/>
        </p:nvSpPr>
        <p:spPr>
          <a:xfrm>
            <a:off x="3698984" y="4024621"/>
            <a:ext cx="4583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Goal: To provide a simple, data-driven tool for understanding and estimating healthcare expenses.</a:t>
            </a:r>
            <a:endParaRPr lang="en-PK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263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Key inputs and outputs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1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Inputs: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age, BMI, smoking, diabetes, hypertension, heart disease, insurance type, coverage %, admissions, doctor visits, medications, previous year cost.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1" i="1" dirty="0"/>
              <a:t>Previous year cost </a:t>
            </a:r>
            <a:r>
              <a:rPr lang="en-US" sz="1200" dirty="0"/>
              <a:t>acts as a strong baseline indicator of future expenses.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1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Outputs: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estimated annual and monthly costs plus flagged risk factors.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66" name="image69e41d53c7b6c" descr="image69e41d53c7b70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26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Target audience &amp; impact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476280" y="1131968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dirty="0"/>
              <a:t>Students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dirty="0"/>
              <a:t>Researchers,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dirty="0"/>
              <a:t>Healthcare Analysts (prototype level)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Data &amp; Preprocessing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71" name="image69e41d53d2e44" descr="image69e41d53d2e48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71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Dataset type and features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Dataset Size: (5000,20)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rgbClr val="000000"/>
                </a:solidFill>
                <a:latin typeface="OpenSymbol"/>
              </a:rPr>
              <a:t>Dataset Nature: Publicly available synthetic data on Kaggle.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Uses structured tabular data (synthetic) containing demographic, clinical, utilization, insurance, and historical cost features.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74" name="image69e41d53dde7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557561"/>
            <a:ext cx="4571640" cy="429761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7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Encoding &amp; cleaning steps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AAD834F-C7ED-6E3E-DC70-F03E93001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8939519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27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Feature selection strategy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587792" y="1236047"/>
            <a:ext cx="3820657" cy="28452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Select features using correlation analysis and model-based importance.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Retain variables that improve validation metrics and interpretability; drop redundant or low-importance features.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D16BD1-9346-E714-96F9-A565AE856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893" y="1015648"/>
            <a:ext cx="4334107" cy="385869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278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Modeling &amp; Results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81" name="image69e41d53e91e2" descr="image69e41d53e91f0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453;p41"/>
          <p:cNvCxnSpPr/>
          <p:nvPr/>
        </p:nvCxnSpPr>
        <p:spPr>
          <a:xfrm>
            <a:off x="0" y="2591280"/>
            <a:ext cx="9151920" cy="360"/>
          </a:xfrm>
          <a:prstGeom prst="straightConnector1">
            <a:avLst/>
          </a:prstGeom>
          <a:ln w="9525">
            <a:solidFill>
              <a:srgbClr val="092F53"/>
            </a:solidFill>
            <a:round/>
          </a:ln>
        </p:spPr>
      </p:cxn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885960" y="1343160"/>
            <a:ext cx="33048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  <a:ea typeface="DM Serif Text"/>
              </a:rPr>
              <a:t>Gradient Boosting Regressor choice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455;p41"/>
          <p:cNvPicPr/>
          <p:nvPr/>
        </p:nvPicPr>
        <p:blipFill>
          <a:blip r:embed="rId2"/>
          <a:stretch/>
        </p:blipFill>
        <p:spPr>
          <a:xfrm>
            <a:off x="5005800" y="820440"/>
            <a:ext cx="3249720" cy="3502440"/>
          </a:xfrm>
          <a:prstGeom prst="rect">
            <a:avLst/>
          </a:prstGeom>
          <a:noFill/>
          <a:ln w="9525">
            <a:solidFill>
              <a:srgbClr val="092F53"/>
            </a:solidFill>
            <a:round/>
          </a:ln>
        </p:spPr>
      </p:pic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885960" y="2800440"/>
            <a:ext cx="3304800" cy="19492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000" dirty="0"/>
              <a:t>Gradient Boosting Regressor chosen based on strong performance in similar regression tasks.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Model tuning via cross-validation and hyperparameter search (learning rate, estimators, depth). 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28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Performance: R² = 99.25%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476280" y="1506404"/>
            <a:ext cx="3560461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80% Data for Training while 20% reserved for testing purpose.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Model achieves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R² = 99.25%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indicating excellent fit on validation/test data. 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arial"/>
            </a:endParaRP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ial"/>
              </a:rPr>
              <a:t>The Root Mean Squared Error is about 623$ which is decent considering the cost ranging from 2000$ to 60000$.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B86972-E5F5-E114-1F9A-9BB861032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406" y="1107688"/>
            <a:ext cx="4765912" cy="3559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8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Text"/>
              </a:rPr>
              <a:t>Interpretation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Feature importance inferred from model (tree-based importance)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effectLst/>
                <a:uFillTx/>
                <a:latin typeface="+mj-lt"/>
              </a:rPr>
              <a:t>Features with highest correlation with the target feature (Annual Cost) are considered as important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latin typeface="+mj-lt"/>
              </a:rPr>
              <a:t>Model is trained on a collection of 12 Features in the correlation graph in ascending order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effectLst/>
                <a:uFillTx/>
                <a:latin typeface="+mj-lt"/>
              </a:rPr>
              <a:t>20% dataset is reserved for testing Purposes.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latin typeface="+mj-lt"/>
              </a:rPr>
              <a:t>Mean Absolute Error of 373$ indicate that the model can be used for general price predictions as medical costs range from 200$ to about 60000$ compared to which , it seems reasonable.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latin typeface="+mj-lt"/>
              </a:rPr>
              <a:t>RMSE is 673$ because it penalizes large errors in cost data more (it overexposes the Outliers)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b="0" u="none" strike="noStrike" dirty="0">
                <a:effectLst/>
                <a:uFillTx/>
                <a:latin typeface="+mj-lt"/>
              </a:rPr>
              <a:t>Model isn’t perfect as it still needs to be tested on real-world unseen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289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1" name="Rectangle 290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0" u="none" strike="noStrike" dirty="0">
                <a:solidFill>
                  <a:srgbClr val="000000"/>
                </a:solidFill>
                <a:effectLst/>
                <a:uFillTx/>
                <a:latin typeface="DM Serif Text" pitchFamily="2" charset="0"/>
              </a:rPr>
              <a:t>User Interface</a:t>
            </a:r>
          </a:p>
        </p:txBody>
      </p:sp>
      <p:pic>
        <p:nvPicPr>
          <p:cNvPr id="292" name="image69e41d540a1bd" descr="image69e41d540a1c1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/>
          <p:cNvSpPr/>
          <p:nvPr/>
        </p:nvSpPr>
        <p:spPr>
          <a:xfrm>
            <a:off x="4163617" y="539751"/>
            <a:ext cx="4735057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Text"/>
              </a:rPr>
              <a:t>Streamlit app: UI and flow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0948676-884A-E835-3F86-667C05103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479765"/>
              </p:ext>
            </p:extLst>
          </p:nvPr>
        </p:nvGraphicFramePr>
        <p:xfrm>
          <a:off x="624467" y="745660"/>
          <a:ext cx="6133171" cy="4160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29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Text"/>
              </a:rPr>
              <a:t>Risk </a:t>
            </a:r>
            <a:r>
              <a:rPr lang="en-US" sz="3000" dirty="0">
                <a:solidFill>
                  <a:schemeClr val="dk1"/>
                </a:solidFill>
                <a:latin typeface="DM Serif Text"/>
              </a:rPr>
              <a:t>D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Text"/>
              </a:rPr>
              <a:t>etection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6" name="Rectangle 29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16CCD65-80E1-79E1-8D19-19FAF7C0B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433233"/>
              </p:ext>
            </p:extLst>
          </p:nvPr>
        </p:nvGraphicFramePr>
        <p:xfrm>
          <a:off x="1951463" y="1100253"/>
          <a:ext cx="5241073" cy="3369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96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Text"/>
              </a:rPr>
              <a:t>Limitations and improvements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8" name="Rectangle 297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Limitations: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/>
              <a:t>Possible overfitting due to high model accuracy.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/>
              <a:t>Feature dependency (e.g., previous cost leakage)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ial"/>
              </a:rPr>
              <a:t>It heavily D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epends on input quality</a:t>
            </a:r>
            <a:r>
              <a:rPr lang="en-US" sz="1200" dirty="0">
                <a:solidFill>
                  <a:schemeClr val="dk1"/>
                </a:solidFill>
                <a:latin typeface="arial"/>
              </a:rPr>
              <a:t>.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rial"/>
              </a:rPr>
              <a:t>P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otential bias </a:t>
            </a:r>
            <a:r>
              <a:rPr lang="en-US" sz="1200" dirty="0">
                <a:solidFill>
                  <a:schemeClr val="dk1"/>
                </a:solidFill>
                <a:latin typeface="arial"/>
              </a:rPr>
              <a:t>as its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trained on synthetic data.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Its not a substitute for clinical advice.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Future: Incorporate real-world EHR data, more health metrics, fairness audits, and scalable deployment.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99" name="image69e41d5418f20" descr="image69e41d5418f27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29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Text"/>
              </a:rPr>
              <a:t>Conclusion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1" name="Rectangle 300"/>
          <p:cNvSpPr/>
          <p:nvPr/>
        </p:nvSpPr>
        <p:spPr>
          <a:xfrm>
            <a:off x="528319" y="142848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i="1" u="sng" strike="noStrike" dirty="0">
                <a:effectLst/>
                <a:uFillTx/>
                <a:latin typeface="+mj-lt"/>
              </a:rPr>
              <a:t>Remarks: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The project delivers a cost-prediction model which is </a:t>
            </a:r>
            <a:r>
              <a:rPr lang="en-US" sz="1500" dirty="0"/>
              <a:t>high-performing model on available dataset.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0" i="1" u="sng" strike="noStrike" dirty="0">
                <a:effectLst/>
                <a:uFillTx/>
                <a:latin typeface="+mj-lt"/>
              </a:rPr>
              <a:t>Data Pipeline: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/>
              <a:t>Data Input → Preprocessing → Model → Prediction → UI Output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1D0B66-4015-BDC0-C859-2980B432006A}"/>
              </a:ext>
            </a:extLst>
          </p:cNvPr>
          <p:cNvSpPr txBox="1"/>
          <p:nvPr/>
        </p:nvSpPr>
        <p:spPr>
          <a:xfrm>
            <a:off x="594732" y="260195"/>
            <a:ext cx="519646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dirty="0">
                <a:solidFill>
                  <a:schemeClr val="bg2"/>
                </a:solidFill>
                <a:latin typeface="DM Serif Text" pitchFamily="2" charset="0"/>
              </a:rPr>
              <a:t>THANKS</a:t>
            </a:r>
          </a:p>
          <a:p>
            <a:r>
              <a:rPr lang="en-US" sz="2400" dirty="0">
                <a:solidFill>
                  <a:schemeClr val="bg2"/>
                </a:solidFill>
                <a:latin typeface="DM Serif Text" pitchFamily="2" charset="0"/>
              </a:rPr>
              <a:t>Feel Free to ask any questions !</a:t>
            </a:r>
          </a:p>
          <a:p>
            <a:endParaRPr lang="en-US" sz="1200" dirty="0">
              <a:solidFill>
                <a:schemeClr val="bg2"/>
              </a:solidFill>
              <a:latin typeface="DM Serif Text" pitchFamily="2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DM Serif Text" pitchFamily="2" charset="0"/>
              </a:rPr>
              <a:t>su92-bsaim-s25-030@superior.edu.pk</a:t>
            </a:r>
          </a:p>
          <a:p>
            <a:r>
              <a:rPr lang="en-US" sz="1200" dirty="0">
                <a:solidFill>
                  <a:schemeClr val="bg2"/>
                </a:solidFill>
                <a:latin typeface="DM Serif Text" pitchFamily="2" charset="0"/>
              </a:rPr>
              <a:t>BSAI-3A</a:t>
            </a:r>
            <a:endParaRPr lang="en-PK" sz="1200" dirty="0">
              <a:solidFill>
                <a:schemeClr val="bg2"/>
              </a:solidFill>
              <a:latin typeface="DM Serif Text" pitchFamily="2" charset="0"/>
            </a:endParaRP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B31C2F8-4733-0C81-69C2-17EE7D221AAF}"/>
              </a:ext>
            </a:extLst>
          </p:cNvPr>
          <p:cNvSpPr/>
          <p:nvPr/>
        </p:nvSpPr>
        <p:spPr>
          <a:xfrm>
            <a:off x="3717073" y="3285891"/>
            <a:ext cx="5099824" cy="1508667"/>
          </a:xfrm>
          <a:prstGeom prst="round2Diag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DM Serif Text" pitchFamily="2" charset="0"/>
              </a:rPr>
              <a:t>Yours Sincerely,</a:t>
            </a:r>
          </a:p>
          <a:p>
            <a:pPr algn="ctr"/>
            <a:r>
              <a:rPr lang="en-US" sz="2400" dirty="0">
                <a:latin typeface="DM Serif Text" pitchFamily="2" charset="0"/>
              </a:rPr>
              <a:t>Muhammad Qasim Ashfaq</a:t>
            </a:r>
            <a:endParaRPr lang="en-PK" sz="2400" dirty="0">
              <a:latin typeface="DM Serif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857001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804</Words>
  <Application>Microsoft Office PowerPoint</Application>
  <PresentationFormat>On-screen Show (16:9)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</vt:lpstr>
      <vt:lpstr>Calibri</vt:lpstr>
      <vt:lpstr>DM Serif Text</vt:lpstr>
      <vt:lpstr>OpenSymbol</vt:lpstr>
      <vt:lpstr>Symbol</vt:lpstr>
      <vt:lpstr>Wingdings</vt:lpstr>
      <vt:lpstr>Elegant and Clean Case Report by Slidesgo</vt:lpstr>
      <vt:lpstr>Elegant and Clean Case Report by Slidesgo</vt:lpstr>
      <vt:lpstr>Slidesgo Final Pages</vt:lpstr>
      <vt:lpstr>Medical Cost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Boosting Regressor choice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Qasim Ashfaq</dc:creator>
  <cp:lastModifiedBy>Qasim Ashfaq</cp:lastModifiedBy>
  <cp:revision>14</cp:revision>
  <dcterms:modified xsi:type="dcterms:W3CDTF">2026-04-19T02:40:56Z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2026-04-19T00:09:53Z</dcterms:created>
  <dc:creator>Unknown Creator</dc:creator>
  <dc:description/>
  <dc:language>en-US</dc:language>
  <cp:lastModifiedBy>Unknown Creator</cp:lastModifiedBy>
  <dcterms:modified xsi:type="dcterms:W3CDTF">2026-04-19T00:09:53Z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